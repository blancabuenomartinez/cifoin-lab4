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26"/>
  </p:notesMasterIdLst>
  <p:handoutMasterIdLst>
    <p:handoutMasterId r:id="rId27"/>
  </p:handoutMasterIdLst>
  <p:sldIdLst>
    <p:sldId id="256" r:id="rId5"/>
    <p:sldId id="289" r:id="rId6"/>
    <p:sldId id="290" r:id="rId7"/>
    <p:sldId id="291" r:id="rId8"/>
    <p:sldId id="296" r:id="rId9"/>
    <p:sldId id="297" r:id="rId10"/>
    <p:sldId id="298" r:id="rId11"/>
    <p:sldId id="292" r:id="rId12"/>
    <p:sldId id="293" r:id="rId13"/>
    <p:sldId id="300" r:id="rId14"/>
    <p:sldId id="301" r:id="rId15"/>
    <p:sldId id="302" r:id="rId16"/>
    <p:sldId id="311" r:id="rId17"/>
    <p:sldId id="295" r:id="rId18"/>
    <p:sldId id="305" r:id="rId19"/>
    <p:sldId id="306" r:id="rId20"/>
    <p:sldId id="307" r:id="rId21"/>
    <p:sldId id="308" r:id="rId22"/>
    <p:sldId id="303" r:id="rId23"/>
    <p:sldId id="304" r:id="rId24"/>
    <p:sldId id="288" r:id="rId25"/>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7D6F18-84B0-44CF-A5D6-C57CCDA48EA2}" v="8" dt="2026-06-12T13:41:04.283"/>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105" autoAdjust="0"/>
    <p:restoredTop sz="95033" autoAdjust="0"/>
  </p:normalViewPr>
  <p:slideViewPr>
    <p:cSldViewPr>
      <p:cViewPr>
        <p:scale>
          <a:sx n="66" d="100"/>
          <a:sy n="66" d="100"/>
        </p:scale>
        <p:origin x="704" y="-68"/>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12/06/2026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12/06/2026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87AEC-015A-4808-9AC9-382D824E43C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FC03EDA-741F-B6F5-3444-A8D74D690AB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7839219-55CF-753A-3C53-04F6B1E28970}"/>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D04B99BF-32CC-B000-CB3E-0CD66FF7CA7C}"/>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26876424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7A5FE-447D-D470-2748-D6A7286A11D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22DCE6C-7386-1984-FB10-7D441F9A88B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AE06EF5-2038-CE48-015C-2B10DFBD89A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A96B6B8-5959-6FAB-A70D-3DD4FE681A20}"/>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6858020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FE139-7CA3-B6F8-E5E4-9BAA6FCB598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D01F326-7F3C-8003-C8BC-397F8CB5AF0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C3DA903-62F2-CE6C-B3FC-A1FA7243531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52CE9E5-B3EC-5F03-2B03-606BEDB84C8B}"/>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6821842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E8953-FBD1-9153-EF78-C91FF21DB1A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8178FDE-4B30-BE63-81E5-77C8D7C0938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6721087-D43C-4464-86E2-440F92F6C80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90FE63F-B6B5-E30C-E5D0-E7201A39426E}"/>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34369208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2BF37-98F6-CD9B-2255-0A64B5CEA44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B68927E-2442-0553-FBC8-D3C32BCC5CF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6130D77-4D33-EE41-3A9E-4EB6D241906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5BAC07D-EBC4-F68A-7BE7-2B2DCCECD5CD}"/>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18854310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988B3-C141-4645-2F2A-A09F408267B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B22BAD8-B0CC-3164-3027-A210D7EB753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3995D4B-1202-927A-28C9-66F35C33AE68}"/>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156FFEE-1184-FFA2-1E7F-CC9E8439AC53}"/>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3810953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6E4BF-F384-24CA-F3A7-7428EF97AA1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F71557C-18B4-62BD-97E7-9287127EF47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7FF8D3F-6217-2514-F9B4-57CF25252CF0}"/>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5A203245-5279-1E62-ED85-5B64D5214AB8}"/>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2583023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B97D4-D848-72C4-8B02-0448417DEC6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A0D9B7D-B3BB-FC0D-638F-61240B23FEB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8BD26FD-2CED-DB54-49CB-FD60A7854238}"/>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3EF5405-2BC6-6CA9-4D08-0D16EC83199B}"/>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31401323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9F12A-C6F8-DF7E-AEEB-FBE6FE9406A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A6B524A-1404-299D-BCD7-3E6B9DC1DE8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2822D59-0F58-03A7-46C0-D51CEA99F3C6}"/>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F451C21-894D-AC6A-85AC-B87548793621}"/>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11284825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4ED6A-B6A2-CCC0-0CE6-1CC5618B911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2659082-2A1A-3B81-C827-F4793E3EE00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71622C1-1499-569B-F8DB-8D87D98DAB65}"/>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C7EDE76-12D6-06BC-AB6B-2553E869D05F}"/>
              </a:ext>
            </a:extLst>
          </p:cNvPr>
          <p:cNvSpPr>
            <a:spLocks noGrp="1"/>
          </p:cNvSpPr>
          <p:nvPr>
            <p:ph type="sldNum" sz="quarter" idx="5"/>
          </p:nvPr>
        </p:nvSpPr>
        <p:spPr/>
        <p:txBody>
          <a:bodyPr/>
          <a:lstStyle/>
          <a:p>
            <a:fld id="{676223B9-C868-4436-87D9-1A3152E1157A}" type="slidenum">
              <a:rPr lang="es-ES" smtClean="0"/>
              <a:t>13</a:t>
            </a:fld>
            <a:endParaRPr lang="es-ES"/>
          </a:p>
        </p:txBody>
      </p:sp>
    </p:spTree>
    <p:extLst>
      <p:ext uri="{BB962C8B-B14F-4D97-AF65-F5344CB8AC3E}">
        <p14:creationId xmlns:p14="http://schemas.microsoft.com/office/powerpoint/2010/main" val="19737204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169CA-A6E9-D0C3-4D3A-6AF90891044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EC97DB9-2632-3700-0312-BB76DC46DEE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A897758-8CC0-1479-13D7-87B5FBD747C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5060DEFB-1A44-3354-5B15-298FF8A10085}"/>
              </a:ext>
            </a:extLst>
          </p:cNvPr>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15764594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AF683-3027-AFA6-B158-272D46DDF36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3B0B751-54E7-2B30-E7EB-93BD042C4AC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F52E2DD-9489-6492-047A-568AF424BEE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A54805E-57A6-27A5-F22E-23E766F18065}"/>
              </a:ext>
            </a:extLst>
          </p:cNvPr>
          <p:cNvSpPr>
            <a:spLocks noGrp="1"/>
          </p:cNvSpPr>
          <p:nvPr>
            <p:ph type="sldNum" sz="quarter" idx="5"/>
          </p:nvPr>
        </p:nvSpPr>
        <p:spPr/>
        <p:txBody>
          <a:bodyPr/>
          <a:lstStyle/>
          <a:p>
            <a:fld id="{676223B9-C868-4436-87D9-1A3152E1157A}" type="slidenum">
              <a:rPr lang="es-ES" smtClean="0"/>
              <a:t>15</a:t>
            </a:fld>
            <a:endParaRPr lang="es-ES"/>
          </a:p>
        </p:txBody>
      </p:sp>
    </p:spTree>
    <p:extLst>
      <p:ext uri="{BB962C8B-B14F-4D97-AF65-F5344CB8AC3E}">
        <p14:creationId xmlns:p14="http://schemas.microsoft.com/office/powerpoint/2010/main" val="355608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D1E42-6453-9F9A-829D-440ABB09560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392C698-F977-2536-4499-D564AB14FE0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9FD071C-00D0-820D-012A-9EFC7EDE4F8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757382A-3D20-18DD-3D45-45E771E65419}"/>
              </a:ext>
            </a:extLst>
          </p:cNvPr>
          <p:cNvSpPr>
            <a:spLocks noGrp="1"/>
          </p:cNvSpPr>
          <p:nvPr>
            <p:ph type="sldNum" sz="quarter" idx="5"/>
          </p:nvPr>
        </p:nvSpPr>
        <p:spPr/>
        <p:txBody>
          <a:bodyPr/>
          <a:lstStyle/>
          <a:p>
            <a:fld id="{676223B9-C868-4436-87D9-1A3152E1157A}" type="slidenum">
              <a:rPr lang="es-ES" smtClean="0"/>
              <a:t>16</a:t>
            </a:fld>
            <a:endParaRPr lang="es-ES"/>
          </a:p>
        </p:txBody>
      </p:sp>
    </p:spTree>
    <p:extLst>
      <p:ext uri="{BB962C8B-B14F-4D97-AF65-F5344CB8AC3E}">
        <p14:creationId xmlns:p14="http://schemas.microsoft.com/office/powerpoint/2010/main" val="10321517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7008A-2A2A-0CAB-4507-090A478B32F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1675F98-3504-42A8-2EFF-0CE00619311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B099493-8005-9843-A9EA-515004BEE47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582FAE1D-194F-F643-37EB-FF90A94502EC}"/>
              </a:ext>
            </a:extLst>
          </p:cNvPr>
          <p:cNvSpPr>
            <a:spLocks noGrp="1"/>
          </p:cNvSpPr>
          <p:nvPr>
            <p:ph type="sldNum" sz="quarter" idx="5"/>
          </p:nvPr>
        </p:nvSpPr>
        <p:spPr/>
        <p:txBody>
          <a:bodyPr/>
          <a:lstStyle/>
          <a:p>
            <a:fld id="{676223B9-C868-4436-87D9-1A3152E1157A}" type="slidenum">
              <a:rPr lang="es-ES" smtClean="0"/>
              <a:t>17</a:t>
            </a:fld>
            <a:endParaRPr lang="es-ES"/>
          </a:p>
        </p:txBody>
      </p:sp>
    </p:spTree>
    <p:extLst>
      <p:ext uri="{BB962C8B-B14F-4D97-AF65-F5344CB8AC3E}">
        <p14:creationId xmlns:p14="http://schemas.microsoft.com/office/powerpoint/2010/main" val="23819232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791A3-C446-C569-1D16-40478D92715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B147184-EF18-2DB4-3330-A2C3D53FCBC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E4E7DAF-4DB0-465C-0A8E-13337DE4FBA6}"/>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0ADD5E3-41B3-423F-F33B-78805F144834}"/>
              </a:ext>
            </a:extLst>
          </p:cNvPr>
          <p:cNvSpPr>
            <a:spLocks noGrp="1"/>
          </p:cNvSpPr>
          <p:nvPr>
            <p:ph type="sldNum" sz="quarter" idx="5"/>
          </p:nvPr>
        </p:nvSpPr>
        <p:spPr/>
        <p:txBody>
          <a:bodyPr/>
          <a:lstStyle/>
          <a:p>
            <a:fld id="{676223B9-C868-4436-87D9-1A3152E1157A}" type="slidenum">
              <a:rPr lang="es-ES" smtClean="0"/>
              <a:t>18</a:t>
            </a:fld>
            <a:endParaRPr lang="es-ES"/>
          </a:p>
        </p:txBody>
      </p:sp>
    </p:spTree>
    <p:extLst>
      <p:ext uri="{BB962C8B-B14F-4D97-AF65-F5344CB8AC3E}">
        <p14:creationId xmlns:p14="http://schemas.microsoft.com/office/powerpoint/2010/main" val="5972291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CD7DD-78CD-4405-2BBD-A9E46FF4591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72DB193-DF0E-BE24-221F-69EE95FF50F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38191FC-0E7A-9B9C-A6D9-5ADCCC192606}"/>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47148D0-4F5C-9267-6FAB-C5A65B199315}"/>
              </a:ext>
            </a:extLst>
          </p:cNvPr>
          <p:cNvSpPr>
            <a:spLocks noGrp="1"/>
          </p:cNvSpPr>
          <p:nvPr>
            <p:ph type="sldNum" sz="quarter" idx="5"/>
          </p:nvPr>
        </p:nvSpPr>
        <p:spPr/>
        <p:txBody>
          <a:bodyPr/>
          <a:lstStyle/>
          <a:p>
            <a:fld id="{676223B9-C868-4436-87D9-1A3152E1157A}" type="slidenum">
              <a:rPr lang="es-ES" smtClean="0"/>
              <a:t>19</a:t>
            </a:fld>
            <a:endParaRPr lang="es-ES"/>
          </a:p>
        </p:txBody>
      </p:sp>
    </p:spTree>
    <p:extLst>
      <p:ext uri="{BB962C8B-B14F-4D97-AF65-F5344CB8AC3E}">
        <p14:creationId xmlns:p14="http://schemas.microsoft.com/office/powerpoint/2010/main" val="10242796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BDC4E-361E-E41F-24D3-114BA5EA244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95811BF-C9C2-2144-265C-A1B286A2BDE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FFD4818-1436-03E5-F74D-CD3BD7FE4AA0}"/>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57989558-7912-4AF2-79DE-317A2978D98F}"/>
              </a:ext>
            </a:extLst>
          </p:cNvPr>
          <p:cNvSpPr>
            <a:spLocks noGrp="1"/>
          </p:cNvSpPr>
          <p:nvPr>
            <p:ph type="sldNum" sz="quarter" idx="5"/>
          </p:nvPr>
        </p:nvSpPr>
        <p:spPr/>
        <p:txBody>
          <a:bodyPr/>
          <a:lstStyle/>
          <a:p>
            <a:fld id="{676223B9-C868-4436-87D9-1A3152E1157A}" type="slidenum">
              <a:rPr lang="es-ES" smtClean="0"/>
              <a:t>20</a:t>
            </a:fld>
            <a:endParaRPr lang="es-ES"/>
          </a:p>
        </p:txBody>
      </p:sp>
    </p:spTree>
    <p:extLst>
      <p:ext uri="{BB962C8B-B14F-4D97-AF65-F5344CB8AC3E}">
        <p14:creationId xmlns:p14="http://schemas.microsoft.com/office/powerpoint/2010/main" val="13283045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4.0. LAYOUT</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4.0. LAYOUT</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4.0. LAYOUT</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exto simple">
    <p:spTree>
      <p:nvGrpSpPr>
        <p:cNvPr id="1" name=""/>
        <p:cNvGrpSpPr/>
        <p:nvPr/>
      </p:nvGrpSpPr>
      <p:grpSpPr>
        <a:xfrm>
          <a:off x="0" y="0"/>
          <a:ext cx="0" cy="0"/>
          <a:chOff x="0" y="0"/>
          <a:chExt cx="0" cy="0"/>
        </a:xfrm>
      </p:grpSpPr>
      <p:sp>
        <p:nvSpPr>
          <p:cNvPr id="6" name="Rectangle 47"/>
          <p:cNvSpPr/>
          <p:nvPr userDrawn="1"/>
        </p:nvSpPr>
        <p:spPr>
          <a:xfrm>
            <a:off x="608171" y="381001"/>
            <a:ext cx="45731" cy="68349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ítulo 8"/>
          <p:cNvSpPr>
            <a:spLocks noGrp="1"/>
          </p:cNvSpPr>
          <p:nvPr>
            <p:ph type="title" hasCustomPrompt="1"/>
          </p:nvPr>
        </p:nvSpPr>
        <p:spPr>
          <a:xfrm>
            <a:off x="736652" y="381000"/>
            <a:ext cx="7778317" cy="313782"/>
          </a:xfrm>
        </p:spPr>
        <p:txBody>
          <a:bodyPr>
            <a:normAutofit/>
          </a:bodyPr>
          <a:lstStyle>
            <a:lvl1pPr algn="l">
              <a:defRPr sz="2800" b="1" i="0" baseline="0">
                <a:solidFill>
                  <a:schemeClr val="tx1">
                    <a:lumMod val="65000"/>
                    <a:lumOff val="35000"/>
                  </a:schemeClr>
                </a:solidFill>
                <a:latin typeface="Calibri" panose="020F0502020204030204" pitchFamily="34" charset="0"/>
                <a:ea typeface="Open Sans Extrabold" panose="020B0906030804020204" pitchFamily="34" charset="0"/>
                <a:cs typeface="Calibri" panose="020F0502020204030204" pitchFamily="34" charset="0"/>
              </a:defRPr>
            </a:lvl1pPr>
          </a:lstStyle>
          <a:p>
            <a:r>
              <a:rPr lang="es-ES" dirty="0"/>
              <a:t>TITULO</a:t>
            </a:r>
          </a:p>
        </p:txBody>
      </p:sp>
      <p:sp>
        <p:nvSpPr>
          <p:cNvPr id="13" name="Marcador de texto 12"/>
          <p:cNvSpPr>
            <a:spLocks noGrp="1"/>
          </p:cNvSpPr>
          <p:nvPr>
            <p:ph type="body" sz="quarter" idx="10" hasCustomPrompt="1"/>
          </p:nvPr>
        </p:nvSpPr>
        <p:spPr>
          <a:xfrm>
            <a:off x="608171" y="1295401"/>
            <a:ext cx="11051877" cy="4958137"/>
          </a:xfrm>
        </p:spPr>
        <p:txBody>
          <a:bodyPr>
            <a:normAutofit/>
          </a:bodyPr>
          <a:lstStyle>
            <a:lvl1pPr>
              <a:defRPr sz="2400" baseline="0">
                <a:latin typeface="Calibri" panose="020F0502020204030204" pitchFamily="34" charset="0"/>
                <a:ea typeface="Open Sans Light" panose="020B0306030504020204" pitchFamily="34" charset="0"/>
                <a:cs typeface="Calibri" panose="020F0502020204030204" pitchFamily="34" charset="0"/>
              </a:defRPr>
            </a:lvl1pPr>
            <a:lvl2pPr>
              <a:defRPr sz="1800">
                <a:latin typeface="Calibri" panose="020F0502020204030204" pitchFamily="34" charset="0"/>
                <a:ea typeface="Open Sans Light" panose="020B0306030504020204" pitchFamily="34" charset="0"/>
                <a:cs typeface="Calibri" panose="020F0502020204030204" pitchFamily="34" charset="0"/>
              </a:defRPr>
            </a:lvl2pPr>
            <a:lvl3pPr>
              <a:defRPr sz="1600">
                <a:latin typeface="Calibri" panose="020F0502020204030204" pitchFamily="34" charset="0"/>
                <a:ea typeface="Open Sans Light" panose="020B0306030504020204" pitchFamily="34" charset="0"/>
                <a:cs typeface="Calibri" panose="020F0502020204030204" pitchFamily="34" charset="0"/>
              </a:defRPr>
            </a:lvl3pPr>
            <a:lvl4pPr>
              <a:defRPr sz="1400">
                <a:latin typeface="Calibri" panose="020F0502020204030204" pitchFamily="34" charset="0"/>
                <a:ea typeface="Open Sans Light" panose="020B0306030504020204" pitchFamily="34" charset="0"/>
                <a:cs typeface="Calibri" panose="020F0502020204030204" pitchFamily="34" charset="0"/>
              </a:defRPr>
            </a:lvl4pPr>
            <a:lvl5pPr>
              <a:defRPr sz="1400">
                <a:latin typeface="Calibri" panose="020F0502020204030204" pitchFamily="34" charset="0"/>
                <a:ea typeface="Open Sans Light" panose="020B0306030504020204" pitchFamily="34" charset="0"/>
                <a:cs typeface="Calibri" panose="020F0502020204030204" pitchFamily="34" charset="0"/>
              </a:defRPr>
            </a:lvl5pPr>
          </a:lstStyle>
          <a:p>
            <a:pPr lvl="0"/>
            <a:r>
              <a:rPr lang="es-ES" dirty="0"/>
              <a:t>Texto del contenido</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23" name="Marcador de texto 22"/>
          <p:cNvSpPr>
            <a:spLocks noGrp="1"/>
          </p:cNvSpPr>
          <p:nvPr>
            <p:ph type="body" sz="quarter" idx="11" hasCustomPrompt="1"/>
          </p:nvPr>
        </p:nvSpPr>
        <p:spPr>
          <a:xfrm>
            <a:off x="736652" y="730647"/>
            <a:ext cx="7778317" cy="381000"/>
          </a:xfrm>
        </p:spPr>
        <p:txBody>
          <a:bodyPr>
            <a:noAutofit/>
          </a:bodyPr>
          <a:lstStyle>
            <a:lvl1pPr marL="0" indent="0">
              <a:buNone/>
              <a:defRPr sz="2000">
                <a:latin typeface="Calibri" panose="020F0502020204030204" pitchFamily="34" charset="0"/>
                <a:ea typeface="Open Sans Light" panose="020B0306030504020204" pitchFamily="34" charset="0"/>
                <a:cs typeface="Calibri" panose="020F0502020204030204" pitchFamily="34" charset="0"/>
              </a:defRPr>
            </a:lvl1pPr>
          </a:lstStyle>
          <a:p>
            <a:pPr lvl="0"/>
            <a:r>
              <a:rPr lang="es-ES" dirty="0"/>
              <a:t>Subtítulo del artículo con una explicación corta a modo resumen</a:t>
            </a:r>
          </a:p>
        </p:txBody>
      </p:sp>
      <p:sp>
        <p:nvSpPr>
          <p:cNvPr id="11" name="Date Placeholder 3"/>
          <p:cNvSpPr>
            <a:spLocks noGrp="1"/>
          </p:cNvSpPr>
          <p:nvPr>
            <p:ph type="dt" sz="half" idx="2"/>
          </p:nvPr>
        </p:nvSpPr>
        <p:spPr>
          <a:xfrm>
            <a:off x="609600" y="6387407"/>
            <a:ext cx="1980287" cy="303019"/>
          </a:xfrm>
          <a:prstGeom prst="rect">
            <a:avLst/>
          </a:prstGeom>
        </p:spPr>
        <p:txBody>
          <a:bodyPr vert="horz" lIns="117208" tIns="58604" rIns="117208" bIns="58604" rtlCol="0" anchor="ctr"/>
          <a:lstStyle>
            <a:lvl1pPr algn="l">
              <a:defRPr sz="1200">
                <a:solidFill>
                  <a:schemeClr val="tx1">
                    <a:tint val="75000"/>
                  </a:schemeClr>
                </a:solidFill>
              </a:defRPr>
            </a:lvl1pPr>
          </a:lstStyle>
          <a:p>
            <a:endParaRPr lang="en-US" dirty="0"/>
          </a:p>
        </p:txBody>
      </p:sp>
      <p:sp>
        <p:nvSpPr>
          <p:cNvPr id="12" name="Footer Placeholder 4"/>
          <p:cNvSpPr>
            <a:spLocks noGrp="1"/>
          </p:cNvSpPr>
          <p:nvPr>
            <p:ph type="ftr" sz="quarter" idx="3"/>
          </p:nvPr>
        </p:nvSpPr>
        <p:spPr>
          <a:xfrm>
            <a:off x="2894768" y="6387407"/>
            <a:ext cx="6402465" cy="303019"/>
          </a:xfrm>
          <a:prstGeom prst="rect">
            <a:avLst/>
          </a:prstGeom>
        </p:spPr>
        <p:txBody>
          <a:bodyPr vert="horz" lIns="117208" tIns="58604" rIns="117208" bIns="58604" rtlCol="0" anchor="ctr"/>
          <a:lstStyle>
            <a:lvl1pPr algn="ctr">
              <a:defRPr sz="1200">
                <a:solidFill>
                  <a:schemeClr val="tx1">
                    <a:tint val="75000"/>
                  </a:schemeClr>
                </a:solidFill>
              </a:defRPr>
            </a:lvl1pPr>
          </a:lstStyle>
          <a:p>
            <a:r>
              <a:rPr lang="en-US"/>
              <a:t>LAB 4.0. LAYOUT</a:t>
            </a:r>
          </a:p>
        </p:txBody>
      </p:sp>
      <p:sp>
        <p:nvSpPr>
          <p:cNvPr id="14" name="Slide Number Placeholder 5"/>
          <p:cNvSpPr>
            <a:spLocks noGrp="1"/>
          </p:cNvSpPr>
          <p:nvPr>
            <p:ph type="sldNum" sz="quarter" idx="4"/>
          </p:nvPr>
        </p:nvSpPr>
        <p:spPr>
          <a:xfrm>
            <a:off x="11431389" y="6388096"/>
            <a:ext cx="760611" cy="303019"/>
          </a:xfrm>
          <a:prstGeom prst="rect">
            <a:avLst/>
          </a:prstGeom>
          <a:solidFill>
            <a:schemeClr val="bg2"/>
          </a:solidFill>
        </p:spPr>
        <p:txBody>
          <a:bodyPr vert="horz" lIns="117208" tIns="58604" rIns="117208" bIns="58604" rtlCol="0" anchor="ctr"/>
          <a:lstStyle>
            <a:lvl1pPr algn="r">
              <a:defRPr sz="1200">
                <a:solidFill>
                  <a:srgbClr val="FF6309"/>
                </a:solidFill>
              </a:defRPr>
            </a:lvl1pPr>
          </a:lstStyle>
          <a:p>
            <a:fld id="{C2F52289-4012-4053-9770-FE82CEB9514F}" type="slidenum">
              <a:rPr lang="en-US" smtClean="0"/>
              <a:pPr/>
              <a:t>‹Nº›</a:t>
            </a:fld>
            <a:endParaRPr lang="en-US" dirty="0"/>
          </a:p>
        </p:txBody>
      </p:sp>
    </p:spTree>
    <p:extLst>
      <p:ext uri="{BB962C8B-B14F-4D97-AF65-F5344CB8AC3E}">
        <p14:creationId xmlns:p14="http://schemas.microsoft.com/office/powerpoint/2010/main" val="3024640384"/>
      </p:ext>
    </p:extLst>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8"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4.0. LAYOUT</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pascualmunoz/cifoin-lab4.git" TargetMode="External"/><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16.png"/><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9213724" cy="505267"/>
          </a:xfrm>
          <a:prstGeom prst="rect">
            <a:avLst/>
          </a:prstGeom>
        </p:spPr>
        <p:txBody>
          <a:bodyPr vert="horz" wrap="square" lIns="0" tIns="12700" rIns="0" bIns="0" rtlCol="0">
            <a:spAutoFit/>
          </a:bodyPr>
          <a:lstStyle/>
          <a:p>
            <a:pPr marL="12700">
              <a:lnSpc>
                <a:spcPct val="100000"/>
              </a:lnSpc>
              <a:spcBef>
                <a:spcPts val="100"/>
              </a:spcBef>
            </a:pPr>
            <a:r>
              <a:rPr lang="es-ES" sz="3200" b="1" dirty="0">
                <a:latin typeface="Lucida Sans"/>
                <a:cs typeface="Lucida Sans"/>
              </a:rPr>
              <a:t>Lab Book 3.0 Circuits and Compact </a:t>
            </a:r>
            <a:r>
              <a:rPr lang="es-ES" sz="3200" b="1" dirty="0" err="1">
                <a:latin typeface="Lucida Sans"/>
                <a:cs typeface="Lucida Sans"/>
              </a:rPr>
              <a:t>Models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a:latin typeface="Arial"/>
                <a:cs typeface="Arial"/>
              </a:rPr>
              <a:t>Student: Blanca Bueno Martínez y Sergio Díaz Jiménez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a:t>
            </a:r>
            <a:r>
              <a:rPr lang="en-US" kern="0" dirty="0">
                <a:solidFill>
                  <a:sysClr val="windowText" lastClr="000000"/>
                </a:solidFill>
                <a:sym typeface="Wingdings" pitchFamily="2" charset="2"/>
                <a:hlinkClick r:id="rId3"/>
              </a:rPr>
              <a:t>https://github.com/pascualmunoz/cifoin-lab4.git</a:t>
            </a:r>
            <a:endParaRPr lang="en-US" kern="0" dirty="0">
              <a:solidFill>
                <a:sysClr val="windowText" lastClr="000000"/>
              </a:solidFill>
              <a:sym typeface="Wingdings" pitchFamily="2" charset="2"/>
            </a:endParaRP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Open folder / repo in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Open terminal: </a:t>
            </a:r>
            <a:r>
              <a:rPr lang="en-US" kern="0" dirty="0" err="1">
                <a:solidFill>
                  <a:sysClr val="windowText" lastClr="000000"/>
                </a:solidFill>
                <a:sym typeface="Wingdings" pitchFamily="2" charset="2"/>
              </a:rPr>
              <a:t>uv</a:t>
            </a:r>
            <a:r>
              <a:rPr lang="en-US" kern="0" dirty="0">
                <a:solidFill>
                  <a:sysClr val="windowText" lastClr="000000"/>
                </a:solidFill>
                <a:sym typeface="Wingdings" pitchFamily="2" charset="2"/>
              </a:rPr>
              <a:t> sync</a:t>
            </a: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err="1">
                <a:solidFill>
                  <a:sysClr val="windowText" lastClr="000000"/>
                </a:solidFill>
              </a:rPr>
              <a:t>LAYOUT_STUDENT.ipynb</a:t>
            </a:r>
            <a:r>
              <a:rPr lang="en-US" kern="0" dirty="0">
                <a:solidFill>
                  <a:sysClr val="windowText" lastClr="000000"/>
                </a:solidFill>
              </a:rPr>
              <a:t> </a:t>
            </a:r>
          </a:p>
          <a:p>
            <a:pPr marL="342900" indent="-342900" algn="just">
              <a:buFont typeface="Arial" panose="020B0604020202020204" pitchFamily="34" charset="0"/>
              <a:buChar char="•"/>
            </a:pPr>
            <a:endParaRPr lang="en-US" kern="0" dirty="0">
              <a:solidFill>
                <a:sysClr val="windowText" lastClr="000000"/>
              </a:solidFill>
            </a:endParaRPr>
          </a:p>
          <a:p>
            <a:pPr marL="342900" indent="-342900" algn="just">
              <a:buFont typeface="Arial" panose="020B0604020202020204" pitchFamily="34" charset="0"/>
              <a:buChar char="•"/>
            </a:pPr>
            <a:r>
              <a:rPr lang="en-US" b="1" kern="0" dirty="0">
                <a:solidFill>
                  <a:srgbClr val="FF0000"/>
                </a:solidFill>
              </a:rPr>
              <a:t>Points</a:t>
            </a:r>
          </a:p>
          <a:p>
            <a:pPr marL="800100" lvl="1" indent="-342900" algn="just">
              <a:buFont typeface="Arial" panose="020B0604020202020204" pitchFamily="34" charset="0"/>
              <a:buChar char="•"/>
            </a:pPr>
            <a:r>
              <a:rPr lang="en-US" b="1" kern="0" dirty="0">
                <a:solidFill>
                  <a:srgbClr val="FF0000"/>
                </a:solidFill>
              </a:rPr>
              <a:t>LO1: 3 points</a:t>
            </a:r>
          </a:p>
          <a:p>
            <a:pPr marL="800100" lvl="1" indent="-342900" algn="just">
              <a:buFont typeface="Arial" panose="020B0604020202020204" pitchFamily="34" charset="0"/>
              <a:buChar char="•"/>
            </a:pPr>
            <a:r>
              <a:rPr lang="en-US" b="1" kern="0" dirty="0">
                <a:solidFill>
                  <a:srgbClr val="FF0000"/>
                </a:solidFill>
              </a:rPr>
              <a:t>LO2: 3 points</a:t>
            </a:r>
          </a:p>
          <a:p>
            <a:pPr marL="800100" lvl="1" indent="-342900" algn="just">
              <a:buFont typeface="Arial" panose="020B0604020202020204" pitchFamily="34" charset="0"/>
              <a:buChar char="•"/>
            </a:pPr>
            <a:r>
              <a:rPr lang="en-US" b="1" kern="0" dirty="0">
                <a:solidFill>
                  <a:srgbClr val="FF0000"/>
                </a:solidFill>
              </a:rPr>
              <a:t>LO3: 1 points</a:t>
            </a:r>
          </a:p>
          <a:p>
            <a:pPr marL="800100" lvl="1" indent="-342900" algn="just">
              <a:buFont typeface="Arial" panose="020B0604020202020204" pitchFamily="34" charset="0"/>
              <a:buChar char="•"/>
            </a:pPr>
            <a:r>
              <a:rPr lang="en-US" b="1" kern="0" dirty="0">
                <a:solidFill>
                  <a:srgbClr val="FF0000"/>
                </a:solidFill>
              </a:rPr>
              <a:t>LO4: 3 points</a:t>
            </a:r>
          </a:p>
          <a:p>
            <a:pPr algn="just"/>
            <a:endParaRPr lang="en-US" b="1" i="1" dirty="0"/>
          </a:p>
          <a:p>
            <a:pPr algn="just"/>
            <a:endParaRPr lang="en-US" sz="2000" b="1" i="1" dirty="0"/>
          </a:p>
          <a:p>
            <a:pPr algn="just"/>
            <a:endParaRPr lang="en-US" sz="2000" kern="0" dirty="0">
              <a:solidFill>
                <a:sysClr val="windowText" lastClr="000000"/>
              </a:solidFill>
            </a:endParaRPr>
          </a:p>
        </p:txBody>
      </p:sp>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#1a – Notebook section 1. Technology</a:t>
            </a:r>
            <a:br>
              <a:rPr lang="es-ES" sz="2500" spc="-5" dirty="0">
                <a:latin typeface="+mj-lt"/>
                <a:cs typeface="Lucida Sans"/>
              </a:rPr>
            </a:br>
            <a:r>
              <a:rPr lang="es-ES" b="0" i="1" spc="-5" dirty="0">
                <a:latin typeface="+mj-lt"/>
              </a:rPr>
              <a:t>“</a:t>
            </a:r>
            <a:r>
              <a:rPr lang="es-ES" b="0" i="1" spc="-5" dirty="0" err="1">
                <a:latin typeface="+mj-lt"/>
              </a:rPr>
              <a:t>We</a:t>
            </a:r>
            <a:r>
              <a:rPr lang="es-ES" b="0" i="1" spc="-5" dirty="0">
                <a:latin typeface="+mj-lt"/>
              </a:rPr>
              <a:t> </a:t>
            </a:r>
            <a:r>
              <a:rPr lang="es-ES" b="0" i="1" spc="-5" dirty="0" err="1">
                <a:latin typeface="+mj-lt"/>
              </a:rPr>
              <a:t>will</a:t>
            </a:r>
            <a:r>
              <a:rPr lang="es-ES" b="0" i="1" spc="-5" dirty="0">
                <a:latin typeface="+mj-lt"/>
              </a:rPr>
              <a:t> </a:t>
            </a:r>
            <a:r>
              <a:rPr lang="es-ES" b="0" i="1" spc="-5" dirty="0" err="1">
                <a:latin typeface="+mj-lt"/>
              </a:rPr>
              <a:t>work</a:t>
            </a:r>
            <a:r>
              <a:rPr lang="es-ES" b="0" i="1" spc="-5" dirty="0">
                <a:latin typeface="+mj-lt"/>
                <a:cs typeface="Lucida Sans"/>
              </a:rPr>
              <a:t> </a:t>
            </a:r>
            <a:r>
              <a:rPr lang="es-ES" b="0" i="1" spc="-5" dirty="0" err="1">
                <a:latin typeface="+mj-lt"/>
                <a:cs typeface="Lucida Sans"/>
              </a:rPr>
              <a:t>with</a:t>
            </a:r>
            <a:r>
              <a:rPr lang="es-ES" b="0" i="1" spc="-5" dirty="0">
                <a:latin typeface="+mj-lt"/>
                <a:cs typeface="Lucida Sans"/>
              </a:rPr>
              <a:t> </a:t>
            </a:r>
            <a:r>
              <a:rPr lang="es-ES" b="0" i="1" spc="-5" dirty="0" err="1">
                <a:latin typeface="+mj-lt"/>
                <a:cs typeface="Lucida Sans"/>
              </a:rPr>
              <a:t>the</a:t>
            </a:r>
            <a:r>
              <a:rPr lang="es-ES" b="0" i="1" spc="-5" dirty="0">
                <a:latin typeface="+mj-lt"/>
                <a:cs typeface="Lucida Sans"/>
              </a:rPr>
              <a:t> demo UPVfab PDK. </a:t>
            </a:r>
            <a:r>
              <a:rPr lang="es-ES" b="0" i="1" spc="-5" dirty="0" err="1">
                <a:latin typeface="+mj-lt"/>
                <a:cs typeface="Lucida Sans"/>
              </a:rPr>
              <a:t>Let's</a:t>
            </a:r>
            <a:r>
              <a:rPr lang="es-ES" b="0" i="1" spc="-5" dirty="0">
                <a:latin typeface="+mj-lt"/>
                <a:cs typeface="Lucida Sans"/>
              </a:rPr>
              <a:t> </a:t>
            </a:r>
            <a:r>
              <a:rPr lang="es-ES" b="0" i="1" spc="-5" dirty="0" err="1">
                <a:latin typeface="+mj-lt"/>
                <a:cs typeface="Lucida Sans"/>
              </a:rPr>
              <a:t>view</a:t>
            </a:r>
            <a:r>
              <a:rPr lang="es-ES" b="0" i="1" spc="-5" dirty="0">
                <a:latin typeface="+mj-lt"/>
                <a:cs typeface="Lucida Sans"/>
              </a:rPr>
              <a:t> </a:t>
            </a:r>
            <a:r>
              <a:rPr lang="es-ES" b="0" i="1" spc="-5" dirty="0" err="1">
                <a:latin typeface="+mj-lt"/>
                <a:cs typeface="Lucida Sans"/>
              </a:rPr>
              <a:t>the</a:t>
            </a:r>
            <a:r>
              <a:rPr lang="es-ES" b="0" i="1" spc="-5" dirty="0">
                <a:latin typeface="+mj-lt"/>
                <a:cs typeface="Lucida Sans"/>
              </a:rPr>
              <a:t> </a:t>
            </a:r>
            <a:r>
              <a:rPr lang="es-ES" b="0" i="1" spc="-5" dirty="0" err="1">
                <a:latin typeface="+mj-lt"/>
                <a:cs typeface="Lucida Sans"/>
              </a:rPr>
              <a:t>layer</a:t>
            </a:r>
            <a:r>
              <a:rPr lang="es-ES" b="0" i="1" spc="-5" dirty="0">
                <a:latin typeface="+mj-lt"/>
                <a:cs typeface="Lucida Sans"/>
              </a:rPr>
              <a:t> </a:t>
            </a:r>
            <a:r>
              <a:rPr lang="es-ES" b="0" i="1" spc="-5" dirty="0" err="1">
                <a:latin typeface="+mj-lt"/>
                <a:cs typeface="Lucida Sans"/>
              </a:rPr>
              <a:t>distribution</a:t>
            </a:r>
            <a:r>
              <a:rPr lang="es-ES" b="0" i="1" spc="-5" dirty="0">
                <a:latin typeface="+mj-lt"/>
                <a:cs typeface="Lucida Sans"/>
              </a:rPr>
              <a:t> </a:t>
            </a:r>
            <a:r>
              <a:rPr lang="es-ES" b="0" i="1" spc="-5" dirty="0" err="1">
                <a:latin typeface="+mj-lt"/>
                <a:cs typeface="Lucida Sans"/>
              </a:rPr>
              <a:t>of</a:t>
            </a:r>
            <a:r>
              <a:rPr lang="es-ES" b="0" i="1" spc="-5" dirty="0">
                <a:latin typeface="+mj-lt"/>
                <a:cs typeface="Lucida Sans"/>
              </a:rPr>
              <a:t> </a:t>
            </a:r>
            <a:r>
              <a:rPr lang="es-ES" b="0" i="1" spc="-5" dirty="0" err="1">
                <a:latin typeface="+mj-lt"/>
                <a:cs typeface="Lucida Sans"/>
              </a:rPr>
              <a:t>this</a:t>
            </a:r>
            <a:r>
              <a:rPr lang="es-ES" b="0" i="1" spc="-5" dirty="0">
                <a:latin typeface="+mj-lt"/>
                <a:cs typeface="Lucida Sans"/>
              </a:rPr>
              <a:t> PDK”</a:t>
            </a:r>
            <a:endParaRPr sz="2500" b="0" i="1"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D0F8CF3B-B920-DBFC-F825-0C87B51EADA7}"/>
              </a:ext>
            </a:extLst>
          </p:cNvPr>
          <p:cNvSpPr txBox="1"/>
          <p:nvPr/>
        </p:nvSpPr>
        <p:spPr>
          <a:xfrm>
            <a:off x="382588" y="1420406"/>
            <a:ext cx="6018211" cy="3901909"/>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dirty="0">
                <a:latin typeface="Arial" panose="020B0604020202020204" pitchFamily="34" charset="0"/>
                <a:cs typeface="Arial" panose="020B0604020202020204" pitchFamily="34" charset="0"/>
              </a:rPr>
              <a:t>A PDK is … </a:t>
            </a:r>
            <a:r>
              <a:rPr lang="en-US" sz="1200" dirty="0">
                <a:latin typeface="Arial" panose="020B0604020202020204" pitchFamily="34" charset="0"/>
                <a:cs typeface="Arial" panose="020B0604020202020204" pitchFamily="34" charset="0"/>
              </a:rPr>
              <a:t>(Process Design Kit) </a:t>
            </a:r>
            <a:r>
              <a:rPr lang="es-ES" sz="1200" noProof="0" dirty="0">
                <a:latin typeface="Arial" panose="020B0604020202020204" pitchFamily="34" charset="0"/>
                <a:cs typeface="Arial" panose="020B0604020202020204" pitchFamily="34" charset="0"/>
              </a:rPr>
              <a:t>es un conjunto de archivos, reglas de diseño, capas, celdas y modelos que describen una tecnología de fabricación específica y permiten diseñar circuitos fotónicos compatibles con dicho proceso.</a:t>
            </a:r>
          </a:p>
          <a:p>
            <a:pPr algn="just"/>
            <a:endParaRPr lang="en-US" sz="1200" dirty="0">
              <a:latin typeface="Arial" panose="020B0604020202020204" pitchFamily="34" charset="0"/>
              <a:cs typeface="Arial" panose="020B0604020202020204" pitchFamily="34" charset="0"/>
            </a:endParaRPr>
          </a:p>
          <a:p>
            <a:pPr algn="just"/>
            <a:r>
              <a:rPr lang="en-US" sz="1200" b="1" dirty="0">
                <a:latin typeface="Arial" panose="020B0604020202020204" pitchFamily="34" charset="0"/>
                <a:cs typeface="Arial" panose="020B0604020202020204" pitchFamily="34" charset="0"/>
              </a:rPr>
              <a:t>In general, the layers for layout in a PDK represent … </a:t>
            </a:r>
            <a:r>
              <a:rPr lang="es-ES" sz="1200" noProof="0" dirty="0">
                <a:latin typeface="Arial" panose="020B0604020202020204" pitchFamily="34" charset="0"/>
                <a:cs typeface="Arial" panose="020B0604020202020204" pitchFamily="34" charset="0"/>
              </a:rPr>
              <a:t>los diferentes niveles de fabricación utilizados en el chip. Cada capa tiene un número y una función, como guías de onda, calentadores, sustrato, etc.</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sz="1200" b="1" dirty="0">
                <a:latin typeface="Arial" panose="020B0604020202020204" pitchFamily="34" charset="0"/>
                <a:cs typeface="Arial" panose="020B0604020202020204" pitchFamily="34" charset="0"/>
              </a:rPr>
              <a:t>For our particular PDK we find the following layers, with number and label/description: </a:t>
            </a:r>
          </a:p>
          <a:p>
            <a:pPr marL="171450" indent="-171450" algn="just">
              <a:buFontTx/>
              <a:buChar char="-"/>
            </a:pPr>
            <a:r>
              <a:rPr lang="es-ES" sz="1200" noProof="0" dirty="0">
                <a:latin typeface="Arial" panose="020B0604020202020204" pitchFamily="34" charset="0"/>
                <a:cs typeface="Arial" panose="020B0604020202020204" pitchFamily="34" charset="0"/>
              </a:rPr>
              <a:t>WG, capa 1/0: capa de guía de onda. Es la capa principal utilizada para dispositivos fotónicos pasivos.</a:t>
            </a:r>
          </a:p>
          <a:p>
            <a:pPr marL="171450" indent="-171450" algn="just">
              <a:buFontTx/>
              <a:buChar char="-"/>
            </a:pPr>
            <a:r>
              <a:rPr lang="es-ES" sz="1200" noProof="0" dirty="0">
                <a:latin typeface="Arial" panose="020B0604020202020204" pitchFamily="34" charset="0"/>
                <a:cs typeface="Arial" panose="020B0604020202020204" pitchFamily="34" charset="0"/>
              </a:rPr>
              <a:t>HEATER, capa 4/0: capa de calentador metálico, utilizada para el ajuste térmico.</a:t>
            </a:r>
          </a:p>
          <a:p>
            <a:pPr marL="171450" indent="-171450" algn="just">
              <a:buFontTx/>
              <a:buChar char="-"/>
            </a:pPr>
            <a:r>
              <a:rPr lang="es-ES" sz="1200" noProof="0" dirty="0">
                <a:latin typeface="Arial" panose="020B0604020202020204" pitchFamily="34" charset="0"/>
                <a:cs typeface="Arial" panose="020B0604020202020204" pitchFamily="34" charset="0"/>
              </a:rPr>
              <a:t>SLAB, capa 2/0: placa o región grabada superficialmente.</a:t>
            </a:r>
          </a:p>
          <a:p>
            <a:pPr marL="171450" indent="-171450" algn="just">
              <a:buFontTx/>
              <a:buChar char="-"/>
            </a:pPr>
            <a:r>
              <a:rPr lang="es-ES" sz="1200" noProof="0" dirty="0">
                <a:latin typeface="Arial" panose="020B0604020202020204" pitchFamily="34" charset="0"/>
                <a:cs typeface="Arial" panose="020B0604020202020204" pitchFamily="34" charset="0"/>
              </a:rPr>
              <a:t>PAD, capa 41/0: capa de almohadilla eléctrica.</a:t>
            </a:r>
          </a:p>
          <a:p>
            <a:pPr marL="171450" indent="-171450" algn="just">
              <a:buFontTx/>
              <a:buChar char="-"/>
            </a:pPr>
            <a:r>
              <a:rPr lang="es-ES" sz="1200" noProof="0" dirty="0">
                <a:latin typeface="Arial" panose="020B0604020202020204" pitchFamily="34" charset="0"/>
                <a:cs typeface="Arial" panose="020B0604020202020204" pitchFamily="34" charset="0"/>
              </a:rPr>
              <a:t>FLOORPLAN, capa 99/0: límite del chip o capa de planta.</a:t>
            </a:r>
          </a:p>
          <a:p>
            <a:pPr marL="171450" indent="-171450" algn="just">
              <a:buFontTx/>
              <a:buChar char="-"/>
            </a:pPr>
            <a:r>
              <a:rPr lang="es-ES" sz="1200" noProof="0" dirty="0">
                <a:latin typeface="Arial" panose="020B0604020202020204" pitchFamily="34" charset="0"/>
                <a:cs typeface="Arial" panose="020B0604020202020204" pitchFamily="34" charset="0"/>
              </a:rPr>
              <a:t>LABEL_INSTANCE, capa 101/0: capa de etiquetas de instancia.</a:t>
            </a:r>
          </a:p>
          <a:p>
            <a:pPr marL="171450" indent="-171450" algn="just">
              <a:buFontTx/>
              <a:buChar char="-"/>
            </a:pPr>
            <a:endParaRPr lang="es-ES" sz="1200" noProof="0" dirty="0">
              <a:latin typeface="Arial" panose="020B0604020202020204" pitchFamily="34" charset="0"/>
              <a:cs typeface="Arial" panose="020B0604020202020204" pitchFamily="34" charset="0"/>
            </a:endParaRPr>
          </a:p>
          <a:p>
            <a:pPr algn="just"/>
            <a:r>
              <a:rPr lang="es-ES" sz="1200" noProof="0" dirty="0">
                <a:latin typeface="Arial" panose="020B0604020202020204" pitchFamily="34" charset="0"/>
                <a:cs typeface="Arial" panose="020B0604020202020204" pitchFamily="34" charset="0"/>
              </a:rPr>
              <a:t>Para dispositivos pasivos utilizamos principalmente la capa WG, mientras que la capa HEATER se utiliza cuando se añaden sintonizadores térmicos.</a:t>
            </a:r>
          </a:p>
        </p:txBody>
      </p:sp>
      <p:sp>
        <p:nvSpPr>
          <p:cNvPr id="6" name="Rectángulo 5">
            <a:extLst>
              <a:ext uri="{FF2B5EF4-FFF2-40B4-BE49-F238E27FC236}">
                <a16:creationId xmlns:a16="http://schemas.microsoft.com/office/drawing/2014/main" id="{82AE4A84-532D-D50D-F368-79FF1C11E97A}"/>
              </a:ext>
            </a:extLst>
          </p:cNvPr>
          <p:cNvSpPr/>
          <p:nvPr/>
        </p:nvSpPr>
        <p:spPr>
          <a:xfrm>
            <a:off x="7467601" y="5032635"/>
            <a:ext cx="3657600" cy="1261375"/>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ángulo 7">
            <a:extLst>
              <a:ext uri="{FF2B5EF4-FFF2-40B4-BE49-F238E27FC236}">
                <a16:creationId xmlns:a16="http://schemas.microsoft.com/office/drawing/2014/main" id="{8BEC3D78-C227-4F8E-7F5D-F398FB043D20}"/>
              </a:ext>
            </a:extLst>
          </p:cNvPr>
          <p:cNvSpPr/>
          <p:nvPr/>
        </p:nvSpPr>
        <p:spPr>
          <a:xfrm>
            <a:off x="6476842" y="1420406"/>
            <a:ext cx="5332570" cy="3550182"/>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B5806D5A-9C65-5DDA-AF7C-30CC28E9C38F}"/>
              </a:ext>
            </a:extLst>
          </p:cNvPr>
          <p:cNvSpPr txBox="1"/>
          <p:nvPr/>
        </p:nvSpPr>
        <p:spPr>
          <a:xfrm>
            <a:off x="7925522" y="2496339"/>
            <a:ext cx="2435218" cy="369332"/>
          </a:xfrm>
          <a:prstGeom prst="rect">
            <a:avLst/>
          </a:prstGeom>
          <a:noFill/>
        </p:spPr>
        <p:txBody>
          <a:bodyPr wrap="none" rtlCol="0">
            <a:spAutoFit/>
          </a:bodyPr>
          <a:lstStyle/>
          <a:p>
            <a:pPr algn="ctr"/>
            <a:r>
              <a:rPr lang="es-ES" dirty="0"/>
              <a:t>Paste </a:t>
            </a:r>
            <a:r>
              <a:rPr lang="es-ES" dirty="0" err="1"/>
              <a:t>plot</a:t>
            </a:r>
            <a:r>
              <a:rPr lang="es-ES" dirty="0"/>
              <a:t> </a:t>
            </a:r>
            <a:r>
              <a:rPr lang="es-ES" dirty="0" err="1"/>
              <a:t>of</a:t>
            </a:r>
            <a:r>
              <a:rPr lang="es-ES" dirty="0"/>
              <a:t> </a:t>
            </a:r>
            <a:r>
              <a:rPr lang="es-ES" dirty="0" err="1"/>
              <a:t>layers</a:t>
            </a:r>
            <a:r>
              <a:rPr lang="es-ES" dirty="0"/>
              <a:t> </a:t>
            </a:r>
            <a:r>
              <a:rPr lang="es-ES" dirty="0" err="1"/>
              <a:t>here</a:t>
            </a:r>
            <a:endParaRPr lang="en-US" dirty="0"/>
          </a:p>
        </p:txBody>
      </p:sp>
      <p:pic>
        <p:nvPicPr>
          <p:cNvPr id="5" name="Imagen 4">
            <a:extLst>
              <a:ext uri="{FF2B5EF4-FFF2-40B4-BE49-F238E27FC236}">
                <a16:creationId xmlns:a16="http://schemas.microsoft.com/office/drawing/2014/main" id="{6FD2878B-E635-C15E-F363-C30A13604E6F}"/>
              </a:ext>
            </a:extLst>
          </p:cNvPr>
          <p:cNvPicPr>
            <a:picLocks noChangeAspect="1"/>
          </p:cNvPicPr>
          <p:nvPr/>
        </p:nvPicPr>
        <p:blipFill>
          <a:blip r:embed="rId4"/>
          <a:stretch>
            <a:fillRect/>
          </a:stretch>
        </p:blipFill>
        <p:spPr>
          <a:xfrm>
            <a:off x="7605791" y="5103134"/>
            <a:ext cx="3411698" cy="1190876"/>
          </a:xfrm>
          <a:prstGeom prst="rect">
            <a:avLst/>
          </a:prstGeom>
        </p:spPr>
      </p:pic>
      <p:pic>
        <p:nvPicPr>
          <p:cNvPr id="11" name="Imagen 10">
            <a:extLst>
              <a:ext uri="{FF2B5EF4-FFF2-40B4-BE49-F238E27FC236}">
                <a16:creationId xmlns:a16="http://schemas.microsoft.com/office/drawing/2014/main" id="{5E1983D3-4F4E-F0EA-C21C-70E0E901D48D}"/>
              </a:ext>
            </a:extLst>
          </p:cNvPr>
          <p:cNvPicPr>
            <a:picLocks noChangeAspect="1"/>
          </p:cNvPicPr>
          <p:nvPr/>
        </p:nvPicPr>
        <p:blipFill>
          <a:blip r:embed="rId5"/>
          <a:stretch>
            <a:fillRect/>
          </a:stretch>
        </p:blipFill>
        <p:spPr>
          <a:xfrm>
            <a:off x="6974157" y="1442431"/>
            <a:ext cx="4644487" cy="3506132"/>
          </a:xfrm>
          <a:prstGeom prst="rect">
            <a:avLst/>
          </a:prstGeom>
        </p:spPr>
      </p:pic>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21758-3D0C-3510-194A-4075C73D458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F925C6-A9EE-0450-6CF3-EB5E905BE7E0}"/>
              </a:ext>
            </a:extLst>
          </p:cNvPr>
          <p:cNvSpPr txBox="1">
            <a:spLocks noGrp="1"/>
          </p:cNvSpPr>
          <p:nvPr>
            <p:ph type="title"/>
          </p:nvPr>
        </p:nvSpPr>
        <p:spPr>
          <a:xfrm>
            <a:off x="685800" y="408883"/>
            <a:ext cx="10994410" cy="951543"/>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#1b – Notebook section 1. Technology – </a:t>
            </a:r>
            <a:r>
              <a:rPr lang="en-US" sz="2500" dirty="0">
                <a:solidFill>
                  <a:srgbClr val="FF0000"/>
                </a:solidFill>
              </a:rPr>
              <a:t>DCs</a:t>
            </a:r>
            <a:br>
              <a:rPr lang="en-US" sz="2500" dirty="0"/>
            </a:br>
            <a:r>
              <a:rPr lang="en-US" sz="1800" b="0" i="1" dirty="0"/>
              <a:t>“Use your design results from Lab2 and Lab3 to create layout instances of your designed components: DCs, MMIs, MZIs &amp; Ring Resonators”</a:t>
            </a:r>
            <a:endParaRPr sz="2500" b="0" i="1" dirty="0">
              <a:latin typeface="+mj-lt"/>
              <a:cs typeface="Lucida Sans"/>
            </a:endParaRPr>
          </a:p>
        </p:txBody>
      </p:sp>
      <p:pic>
        <p:nvPicPr>
          <p:cNvPr id="83" name="Gráfico 82">
            <a:extLst>
              <a:ext uri="{FF2B5EF4-FFF2-40B4-BE49-F238E27FC236}">
                <a16:creationId xmlns:a16="http://schemas.microsoft.com/office/drawing/2014/main" id="{61751C67-979A-7D64-9474-F594568485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5A815B6-7BA3-E2CF-377E-EACA0F621FAA}"/>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018AEC9F-5174-0EEA-5CD3-65515392F16F}"/>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A1BE4500-9BE4-025B-9167-E8AC6466B028}"/>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dirty="0">
                <a:latin typeface="Arial" panose="020B0604020202020204" pitchFamily="34" charset="0"/>
                <a:cs typeface="Arial" panose="020B0604020202020204" pitchFamily="34" charset="0"/>
              </a:rPr>
              <a:t>Describe component. </a:t>
            </a:r>
            <a:r>
              <a:rPr lang="en-US" sz="1200" b="1" dirty="0">
                <a:solidFill>
                  <a:srgbClr val="FF0000"/>
                </a:solidFill>
                <a:latin typeface="Arial" panose="020B0604020202020204" pitchFamily="34" charset="0"/>
                <a:cs typeface="Arial" panose="020B0604020202020204" pitchFamily="34" charset="0"/>
              </a:rPr>
              <a:t>Example</a:t>
            </a:r>
            <a:r>
              <a:rPr lang="en-US" sz="1200" b="1" dirty="0">
                <a:latin typeface="Arial" panose="020B0604020202020204" pitchFamily="34" charset="0"/>
                <a:cs typeface="Arial" panose="020B0604020202020204" pitchFamily="34" charset="0"/>
              </a:rPr>
              <a:t>: this is the MMI we designed in Lab2, it is a 2x2 with paired interference, target coupling constant K = 0.5. The relevant dimensions are W_MMI = XX µm L_MMI = YY µm and the I/O positions with respect to center are at +/- </a:t>
            </a:r>
            <a:r>
              <a:rPr lang="en-US" sz="1200" b="1" dirty="0" err="1">
                <a:latin typeface="Arial" panose="020B0604020202020204" pitchFamily="34" charset="0"/>
                <a:cs typeface="Arial" panose="020B0604020202020204" pitchFamily="34" charset="0"/>
              </a:rPr>
              <a:t>dY</a:t>
            </a:r>
            <a:r>
              <a:rPr lang="en-US" sz="1200" b="1" dirty="0">
                <a:latin typeface="Arial" panose="020B0604020202020204" pitchFamily="34" charset="0"/>
                <a:cs typeface="Arial" panose="020B0604020202020204" pitchFamily="34" charset="0"/>
              </a:rPr>
              <a:t> µm</a:t>
            </a:r>
          </a:p>
          <a:p>
            <a:pPr algn="just"/>
            <a:r>
              <a:rPr lang="es-ES" sz="1200" noProof="0" dirty="0">
                <a:latin typeface="Arial" panose="020B0604020202020204" pitchFamily="34" charset="0"/>
                <a:cs typeface="Arial" panose="020B0604020202020204" pitchFamily="34" charset="0"/>
              </a:rPr>
              <a:t>En la imagen vemos el </a:t>
            </a:r>
            <a:r>
              <a:rPr lang="es-ES" sz="1200" noProof="0" dirty="0" err="1">
                <a:latin typeface="Arial" panose="020B0604020202020204" pitchFamily="34" charset="0"/>
                <a:cs typeface="Arial" panose="020B0604020202020204" pitchFamily="34" charset="0"/>
              </a:rPr>
              <a:t>layout</a:t>
            </a:r>
            <a:r>
              <a:rPr lang="es-ES" sz="1200" noProof="0" dirty="0">
                <a:latin typeface="Arial" panose="020B0604020202020204" pitchFamily="34" charset="0"/>
                <a:cs typeface="Arial" panose="020B0604020202020204" pitchFamily="34" charset="0"/>
              </a:rPr>
              <a:t> del acoplador direccional diseñado en el Lab2 que está formado por dos guías paralelas próximas entre sí, de forma que la potencia óptica se transfiere periódicamente de una guía a la otra por acoplamiento evanescente.</a:t>
            </a:r>
          </a:p>
          <a:p>
            <a:pPr algn="just"/>
            <a:r>
              <a:rPr lang="es-ES" sz="1200" noProof="0" dirty="0">
                <a:latin typeface="Arial" panose="020B0604020202020204" pitchFamily="34" charset="0"/>
                <a:cs typeface="Arial" panose="020B0604020202020204" pitchFamily="34" charset="0"/>
              </a:rPr>
              <a:t>Utilizamos una anchura de guía de 1.2 </a:t>
            </a:r>
            <a:r>
              <a:rPr lang="es-ES" sz="1200" noProof="0" dirty="0" err="1">
                <a:latin typeface="Arial" panose="020B0604020202020204" pitchFamily="34" charset="0"/>
                <a:cs typeface="Arial" panose="020B0604020202020204" pitchFamily="34" charset="0"/>
              </a:rPr>
              <a:t>um</a:t>
            </a:r>
            <a:r>
              <a:rPr lang="es-ES" sz="1200" noProof="0" dirty="0">
                <a:latin typeface="Arial" panose="020B0604020202020204" pitchFamily="34" charset="0"/>
                <a:cs typeface="Arial" panose="020B0604020202020204" pitchFamily="34" charset="0"/>
              </a:rPr>
              <a:t> y un gap de 0.6 </a:t>
            </a:r>
            <a:r>
              <a:rPr lang="es-ES" sz="1200" noProof="0" dirty="0" err="1">
                <a:latin typeface="Arial" panose="020B0604020202020204" pitchFamily="34" charset="0"/>
                <a:cs typeface="Arial" panose="020B0604020202020204" pitchFamily="34" charset="0"/>
              </a:rPr>
              <a:t>um</a:t>
            </a:r>
            <a:r>
              <a:rPr lang="es-ES" sz="1200" noProof="0" dirty="0">
                <a:latin typeface="Arial" panose="020B0604020202020204" pitchFamily="34" charset="0"/>
                <a:cs typeface="Arial" panose="020B0604020202020204" pitchFamily="34" charset="0"/>
              </a:rPr>
              <a:t>. Para el modo TE obtuvimos  una longitud de </a:t>
            </a:r>
            <a:r>
              <a:rPr lang="es-ES" sz="1200" noProof="0" dirty="0" err="1">
                <a:latin typeface="Arial" panose="020B0604020202020204" pitchFamily="34" charset="0"/>
                <a:cs typeface="Arial" panose="020B0604020202020204" pitchFamily="34" charset="0"/>
              </a:rPr>
              <a:t>Lpi</a:t>
            </a:r>
            <a:r>
              <a:rPr lang="es-ES" sz="1200" noProof="0" dirty="0">
                <a:latin typeface="Arial" panose="020B0604020202020204" pitchFamily="34" charset="0"/>
                <a:cs typeface="Arial" panose="020B0604020202020204" pitchFamily="34" charset="0"/>
              </a:rPr>
              <a:t> = 93.8 </a:t>
            </a:r>
            <a:r>
              <a:rPr lang="es-ES" sz="1200" noProof="0" dirty="0" err="1">
                <a:latin typeface="Arial" panose="020B0604020202020204" pitchFamily="34" charset="0"/>
                <a:cs typeface="Arial" panose="020B0604020202020204" pitchFamily="34" charset="0"/>
              </a:rPr>
              <a:t>um</a:t>
            </a:r>
            <a:r>
              <a:rPr lang="es-ES" sz="1200" noProof="0" dirty="0">
                <a:latin typeface="Arial" panose="020B0604020202020204" pitchFamily="34" charset="0"/>
                <a:cs typeface="Arial" panose="020B0604020202020204" pitchFamily="34" charset="0"/>
              </a:rPr>
              <a:t>, por lo que para obtener un divisor 50/50 se usa una longitud de L=</a:t>
            </a:r>
            <a:r>
              <a:rPr lang="es-ES" sz="1200" noProof="0" dirty="0" err="1">
                <a:latin typeface="Arial" panose="020B0604020202020204" pitchFamily="34" charset="0"/>
                <a:cs typeface="Arial" panose="020B0604020202020204" pitchFamily="34" charset="0"/>
              </a:rPr>
              <a:t>Lpi</a:t>
            </a:r>
            <a:r>
              <a:rPr lang="es-ES" sz="1200" noProof="0" dirty="0">
                <a:latin typeface="Arial" panose="020B0604020202020204" pitchFamily="34" charset="0"/>
                <a:cs typeface="Arial" panose="020B0604020202020204" pitchFamily="34" charset="0"/>
              </a:rPr>
              <a:t>/2=46.9 </a:t>
            </a:r>
            <a:r>
              <a:rPr lang="es-ES" sz="1200" noProof="0" dirty="0" err="1">
                <a:latin typeface="Arial" panose="020B0604020202020204" pitchFamily="34" charset="0"/>
                <a:cs typeface="Arial" panose="020B0604020202020204" pitchFamily="34" charset="0"/>
              </a:rPr>
              <a:t>um</a:t>
            </a:r>
            <a:r>
              <a:rPr lang="es-ES" sz="1200" noProof="0" dirty="0">
                <a:latin typeface="Arial" panose="020B0604020202020204" pitchFamily="34" charset="0"/>
                <a:cs typeface="Arial" panose="020B0604020202020204" pitchFamily="34" charset="0"/>
              </a:rPr>
              <a:t>.</a:t>
            </a:r>
          </a:p>
        </p:txBody>
      </p:sp>
      <p:sp>
        <p:nvSpPr>
          <p:cNvPr id="6" name="Rectángulo 5">
            <a:extLst>
              <a:ext uri="{FF2B5EF4-FFF2-40B4-BE49-F238E27FC236}">
                <a16:creationId xmlns:a16="http://schemas.microsoft.com/office/drawing/2014/main" id="{FB364273-7E07-9E83-F4A6-1AFD1AEFE243}"/>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96224819-75AC-EB82-A160-7A3DE5BF0740}"/>
              </a:ext>
            </a:extLst>
          </p:cNvPr>
          <p:cNvSpPr txBox="1"/>
          <p:nvPr/>
        </p:nvSpPr>
        <p:spPr>
          <a:xfrm>
            <a:off x="2375901" y="2494306"/>
            <a:ext cx="1799660" cy="646331"/>
          </a:xfrm>
          <a:prstGeom prst="rect">
            <a:avLst/>
          </a:prstGeom>
          <a:noFill/>
        </p:spPr>
        <p:txBody>
          <a:bodyPr wrap="none" rtlCol="0">
            <a:spAutoFit/>
          </a:bodyPr>
          <a:lstStyle/>
          <a:p>
            <a:pPr algn="ctr"/>
            <a:r>
              <a:rPr lang="en-US" dirty="0"/>
              <a:t>Component code</a:t>
            </a:r>
          </a:p>
          <a:p>
            <a:pPr algn="ctr"/>
            <a:endParaRPr lang="en-US" dirty="0"/>
          </a:p>
        </p:txBody>
      </p:sp>
      <p:sp>
        <p:nvSpPr>
          <p:cNvPr id="8" name="Rectángulo 7">
            <a:extLst>
              <a:ext uri="{FF2B5EF4-FFF2-40B4-BE49-F238E27FC236}">
                <a16:creationId xmlns:a16="http://schemas.microsoft.com/office/drawing/2014/main" id="{8C1E968B-0AE0-37CB-7468-A50896329E70}"/>
              </a:ext>
            </a:extLst>
          </p:cNvPr>
          <p:cNvSpPr/>
          <p:nvPr/>
        </p:nvSpPr>
        <p:spPr>
          <a:xfrm>
            <a:off x="6476841" y="1420406"/>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89877566-4E2F-8CE5-3749-EB4B91552614}"/>
              </a:ext>
            </a:extLst>
          </p:cNvPr>
          <p:cNvSpPr txBox="1"/>
          <p:nvPr/>
        </p:nvSpPr>
        <p:spPr>
          <a:xfrm>
            <a:off x="7956912" y="2496339"/>
            <a:ext cx="2372445" cy="369332"/>
          </a:xfrm>
          <a:prstGeom prst="rect">
            <a:avLst/>
          </a:prstGeom>
          <a:noFill/>
        </p:spPr>
        <p:txBody>
          <a:bodyPr wrap="none" rtlCol="0">
            <a:spAutoFit/>
          </a:bodyPr>
          <a:lstStyle/>
          <a:p>
            <a:pPr algn="ctr"/>
            <a:r>
              <a:rPr lang="es-ES" dirty="0" err="1"/>
              <a:t>Component</a:t>
            </a:r>
            <a:r>
              <a:rPr lang="es-ES" dirty="0"/>
              <a:t> </a:t>
            </a:r>
            <a:r>
              <a:rPr lang="es-ES" dirty="0" err="1"/>
              <a:t>screenshot</a:t>
            </a:r>
            <a:endParaRPr lang="en-US" dirty="0"/>
          </a:p>
        </p:txBody>
      </p:sp>
      <p:pic>
        <p:nvPicPr>
          <p:cNvPr id="10" name="Imagen 9">
            <a:extLst>
              <a:ext uri="{FF2B5EF4-FFF2-40B4-BE49-F238E27FC236}">
                <a16:creationId xmlns:a16="http://schemas.microsoft.com/office/drawing/2014/main" id="{A4B77E9A-80D0-2712-9F9A-2F268D09B780}"/>
              </a:ext>
            </a:extLst>
          </p:cNvPr>
          <p:cNvPicPr>
            <a:picLocks noChangeAspect="1"/>
          </p:cNvPicPr>
          <p:nvPr/>
        </p:nvPicPr>
        <p:blipFill>
          <a:blip r:embed="rId4"/>
          <a:stretch>
            <a:fillRect/>
          </a:stretch>
        </p:blipFill>
        <p:spPr>
          <a:xfrm>
            <a:off x="7084946" y="1466252"/>
            <a:ext cx="4268853" cy="3222566"/>
          </a:xfrm>
          <a:prstGeom prst="rect">
            <a:avLst/>
          </a:prstGeom>
        </p:spPr>
      </p:pic>
      <p:pic>
        <p:nvPicPr>
          <p:cNvPr id="13" name="Imagen 12">
            <a:extLst>
              <a:ext uri="{FF2B5EF4-FFF2-40B4-BE49-F238E27FC236}">
                <a16:creationId xmlns:a16="http://schemas.microsoft.com/office/drawing/2014/main" id="{6B46FC3D-CD8D-5B3D-F9AF-204903B8A036}"/>
              </a:ext>
            </a:extLst>
          </p:cNvPr>
          <p:cNvPicPr>
            <a:picLocks noChangeAspect="1"/>
          </p:cNvPicPr>
          <p:nvPr/>
        </p:nvPicPr>
        <p:blipFill>
          <a:blip r:embed="rId5"/>
          <a:stretch>
            <a:fillRect/>
          </a:stretch>
        </p:blipFill>
        <p:spPr>
          <a:xfrm>
            <a:off x="1524000" y="1466252"/>
            <a:ext cx="3072016" cy="3225369"/>
          </a:xfrm>
          <a:prstGeom prst="rect">
            <a:avLst/>
          </a:prstGeom>
        </p:spPr>
      </p:pic>
    </p:spTree>
    <p:extLst>
      <p:ext uri="{BB962C8B-B14F-4D97-AF65-F5344CB8AC3E}">
        <p14:creationId xmlns:p14="http://schemas.microsoft.com/office/powerpoint/2010/main" val="1196424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7D405-8C60-8F6D-805D-DFAB68544380}"/>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0673483F-FE85-A6A7-FF6C-7E15B9812E0B}"/>
              </a:ext>
            </a:extLst>
          </p:cNvPr>
          <p:cNvSpPr txBox="1">
            <a:spLocks noGrp="1"/>
          </p:cNvSpPr>
          <p:nvPr>
            <p:ph type="title"/>
          </p:nvPr>
        </p:nvSpPr>
        <p:spPr>
          <a:xfrm>
            <a:off x="685800" y="408883"/>
            <a:ext cx="10994410" cy="951543"/>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#1b – Notebook section 1. Technology – </a:t>
            </a:r>
            <a:r>
              <a:rPr lang="en-US" sz="2500" dirty="0">
                <a:solidFill>
                  <a:srgbClr val="FF0000"/>
                </a:solidFill>
              </a:rPr>
              <a:t>MMIs</a:t>
            </a:r>
            <a:br>
              <a:rPr lang="en-US" sz="2500" dirty="0"/>
            </a:br>
            <a:r>
              <a:rPr lang="en-US" sz="1800" b="0" i="1" dirty="0"/>
              <a:t>“Use your design results from Lab2 and Lab3 to create layout instances of your designed components: DCs, MMIs, MZIs &amp; Ring Resonators”</a:t>
            </a:r>
            <a:endParaRPr sz="2500" b="0" i="1" dirty="0">
              <a:latin typeface="+mj-lt"/>
              <a:cs typeface="Lucida Sans"/>
            </a:endParaRPr>
          </a:p>
        </p:txBody>
      </p:sp>
      <p:pic>
        <p:nvPicPr>
          <p:cNvPr id="83" name="Gráfico 82">
            <a:extLst>
              <a:ext uri="{FF2B5EF4-FFF2-40B4-BE49-F238E27FC236}">
                <a16:creationId xmlns:a16="http://schemas.microsoft.com/office/drawing/2014/main" id="{8481F0E6-B306-7041-D606-9C56CD59B0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F7DC3B5-2D90-2824-62BD-94732EBDC3A1}"/>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95416B28-ECD2-7F68-DD5A-A887A2E4360A}"/>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F93B46BC-BF58-5C14-1FEB-77CE36B9F203}"/>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dirty="0">
                <a:latin typeface="Arial" panose="020B0604020202020204" pitchFamily="34" charset="0"/>
                <a:cs typeface="Arial" panose="020B0604020202020204" pitchFamily="34" charset="0"/>
              </a:rPr>
              <a:t>Describe component. </a:t>
            </a:r>
            <a:r>
              <a:rPr lang="en-US" sz="1200" b="1" dirty="0">
                <a:solidFill>
                  <a:srgbClr val="FF0000"/>
                </a:solidFill>
                <a:latin typeface="Arial" panose="020B0604020202020204" pitchFamily="34" charset="0"/>
                <a:cs typeface="Arial" panose="020B0604020202020204" pitchFamily="34" charset="0"/>
              </a:rPr>
              <a:t>Example</a:t>
            </a:r>
            <a:r>
              <a:rPr lang="en-US" sz="1200" b="1" dirty="0">
                <a:latin typeface="Arial" panose="020B0604020202020204" pitchFamily="34" charset="0"/>
                <a:cs typeface="Arial" panose="020B0604020202020204" pitchFamily="34" charset="0"/>
              </a:rPr>
              <a:t>: this is the MMI we designed in Lab2, it is a 2x2 with paired interference, target coupling constant K = 0.5. The relevant dimensions are W_MMI = XX µm L_MMI = YY µm and the I/O positions with respect to center are at +/- </a:t>
            </a:r>
            <a:r>
              <a:rPr lang="en-US" sz="1200" b="1" dirty="0" err="1">
                <a:latin typeface="Arial" panose="020B0604020202020204" pitchFamily="34" charset="0"/>
                <a:cs typeface="Arial" panose="020B0604020202020204" pitchFamily="34" charset="0"/>
              </a:rPr>
              <a:t>dY</a:t>
            </a:r>
            <a:r>
              <a:rPr lang="en-US" sz="1200" b="1" dirty="0">
                <a:latin typeface="Arial" panose="020B0604020202020204" pitchFamily="34" charset="0"/>
                <a:cs typeface="Arial" panose="020B0604020202020204" pitchFamily="34" charset="0"/>
              </a:rPr>
              <a:t> µm</a:t>
            </a:r>
          </a:p>
          <a:p>
            <a:pPr algn="just"/>
            <a:r>
              <a:rPr lang="es-ES" sz="1200" noProof="0" dirty="0">
                <a:latin typeface="Arial" panose="020B0604020202020204" pitchFamily="34" charset="0"/>
                <a:cs typeface="Arial" panose="020B0604020202020204" pitchFamily="34" charset="0"/>
              </a:rPr>
              <a:t>Este componente (MMI 2x2 diseñado en el Lab2) se trata de un acoplador multimodo basado en interferencia multimodal, cuyo objetivo es dividir la potencia de entrada de forma equilibrada entre dos salidas.</a:t>
            </a:r>
          </a:p>
          <a:p>
            <a:pPr algn="just"/>
            <a:r>
              <a:rPr lang="es-ES" sz="1200" noProof="0" dirty="0">
                <a:latin typeface="Arial" panose="020B0604020202020204" pitchFamily="34" charset="0"/>
                <a:cs typeface="Arial" panose="020B0604020202020204" pitchFamily="34" charset="0"/>
              </a:rPr>
              <a:t>Usamos una anchura de W_MMI=6.6 </a:t>
            </a:r>
            <a:r>
              <a:rPr lang="es-ES" sz="1200" noProof="0" dirty="0" err="1">
                <a:latin typeface="Arial" panose="020B0604020202020204" pitchFamily="34" charset="0"/>
                <a:cs typeface="Arial" panose="020B0604020202020204" pitchFamily="34" charset="0"/>
              </a:rPr>
              <a:t>um</a:t>
            </a:r>
            <a:r>
              <a:rPr lang="es-ES" sz="1200" noProof="0" dirty="0">
                <a:latin typeface="Arial" panose="020B0604020202020204" pitchFamily="34" charset="0"/>
                <a:cs typeface="Arial" panose="020B0604020202020204" pitchFamily="34" charset="0"/>
              </a:rPr>
              <a:t>. Después de la optimización, el reparto de potencia obtenido fue prácticamente 50/50, con unas pérdidas de exceso inferiores a 0.1 dB.</a:t>
            </a:r>
          </a:p>
        </p:txBody>
      </p:sp>
      <p:sp>
        <p:nvSpPr>
          <p:cNvPr id="6" name="Rectángulo 5">
            <a:extLst>
              <a:ext uri="{FF2B5EF4-FFF2-40B4-BE49-F238E27FC236}">
                <a16:creationId xmlns:a16="http://schemas.microsoft.com/office/drawing/2014/main" id="{A01EBCC6-BCEC-88AA-82C9-5D3CB9914E30}"/>
              </a:ext>
            </a:extLst>
          </p:cNvPr>
          <p:cNvSpPr/>
          <p:nvPr/>
        </p:nvSpPr>
        <p:spPr>
          <a:xfrm>
            <a:off x="609441" y="1418373"/>
            <a:ext cx="57151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A426343A-B40A-8391-95FF-81644F9F3A46}"/>
              </a:ext>
            </a:extLst>
          </p:cNvPr>
          <p:cNvSpPr txBox="1"/>
          <p:nvPr/>
        </p:nvSpPr>
        <p:spPr>
          <a:xfrm>
            <a:off x="2375901" y="2590800"/>
            <a:ext cx="824499" cy="1200329"/>
          </a:xfrm>
          <a:prstGeom prst="rect">
            <a:avLst/>
          </a:prstGeom>
          <a:noFill/>
        </p:spPr>
        <p:txBody>
          <a:bodyPr wrap="square" rtlCol="0">
            <a:spAutoFit/>
          </a:bodyPr>
          <a:lstStyle/>
          <a:p>
            <a:pPr algn="ctr"/>
            <a:r>
              <a:rPr lang="en-US" dirty="0"/>
              <a:t>Component code</a:t>
            </a:r>
          </a:p>
          <a:p>
            <a:pPr algn="ctr"/>
            <a:endParaRPr lang="en-US" dirty="0"/>
          </a:p>
        </p:txBody>
      </p:sp>
      <p:sp>
        <p:nvSpPr>
          <p:cNvPr id="8" name="Rectángulo 7">
            <a:extLst>
              <a:ext uri="{FF2B5EF4-FFF2-40B4-BE49-F238E27FC236}">
                <a16:creationId xmlns:a16="http://schemas.microsoft.com/office/drawing/2014/main" id="{59FDC386-C008-F569-AA0D-EAC25935371E}"/>
              </a:ext>
            </a:extLst>
          </p:cNvPr>
          <p:cNvSpPr/>
          <p:nvPr/>
        </p:nvSpPr>
        <p:spPr>
          <a:xfrm>
            <a:off x="6476841" y="1420406"/>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DA9B1B8C-8973-8025-9E48-9782244EE684}"/>
              </a:ext>
            </a:extLst>
          </p:cNvPr>
          <p:cNvSpPr txBox="1"/>
          <p:nvPr/>
        </p:nvSpPr>
        <p:spPr>
          <a:xfrm>
            <a:off x="7956912" y="2496339"/>
            <a:ext cx="2372445" cy="369332"/>
          </a:xfrm>
          <a:prstGeom prst="rect">
            <a:avLst/>
          </a:prstGeom>
          <a:noFill/>
        </p:spPr>
        <p:txBody>
          <a:bodyPr wrap="none" rtlCol="0">
            <a:spAutoFit/>
          </a:bodyPr>
          <a:lstStyle/>
          <a:p>
            <a:pPr algn="ctr"/>
            <a:r>
              <a:rPr lang="es-ES" dirty="0" err="1"/>
              <a:t>Component</a:t>
            </a:r>
            <a:r>
              <a:rPr lang="es-ES" dirty="0"/>
              <a:t> </a:t>
            </a:r>
            <a:r>
              <a:rPr lang="es-ES" dirty="0" err="1"/>
              <a:t>screenshot</a:t>
            </a:r>
            <a:endParaRPr lang="en-US" dirty="0"/>
          </a:p>
        </p:txBody>
      </p:sp>
      <p:pic>
        <p:nvPicPr>
          <p:cNvPr id="10" name="Imagen 9">
            <a:extLst>
              <a:ext uri="{FF2B5EF4-FFF2-40B4-BE49-F238E27FC236}">
                <a16:creationId xmlns:a16="http://schemas.microsoft.com/office/drawing/2014/main" id="{0C619573-0DD2-782C-7690-E84599B67EC0}"/>
              </a:ext>
            </a:extLst>
          </p:cNvPr>
          <p:cNvPicPr>
            <a:picLocks noChangeAspect="1"/>
          </p:cNvPicPr>
          <p:nvPr/>
        </p:nvPicPr>
        <p:blipFill>
          <a:blip r:embed="rId4"/>
          <a:stretch>
            <a:fillRect/>
          </a:stretch>
        </p:blipFill>
        <p:spPr>
          <a:xfrm>
            <a:off x="899250" y="1532025"/>
            <a:ext cx="2549317" cy="2977773"/>
          </a:xfrm>
          <a:prstGeom prst="rect">
            <a:avLst/>
          </a:prstGeom>
        </p:spPr>
      </p:pic>
      <p:pic>
        <p:nvPicPr>
          <p:cNvPr id="13" name="Imagen 12">
            <a:extLst>
              <a:ext uri="{FF2B5EF4-FFF2-40B4-BE49-F238E27FC236}">
                <a16:creationId xmlns:a16="http://schemas.microsoft.com/office/drawing/2014/main" id="{1066A3EA-21FE-9F83-2E4C-A6712F85F046}"/>
              </a:ext>
            </a:extLst>
          </p:cNvPr>
          <p:cNvPicPr>
            <a:picLocks noChangeAspect="1"/>
          </p:cNvPicPr>
          <p:nvPr/>
        </p:nvPicPr>
        <p:blipFill>
          <a:blip r:embed="rId5"/>
          <a:stretch>
            <a:fillRect/>
          </a:stretch>
        </p:blipFill>
        <p:spPr>
          <a:xfrm>
            <a:off x="3541311" y="1550556"/>
            <a:ext cx="2707089" cy="2992501"/>
          </a:xfrm>
          <a:prstGeom prst="rect">
            <a:avLst/>
          </a:prstGeom>
        </p:spPr>
      </p:pic>
      <p:pic>
        <p:nvPicPr>
          <p:cNvPr id="15" name="Imagen 14">
            <a:extLst>
              <a:ext uri="{FF2B5EF4-FFF2-40B4-BE49-F238E27FC236}">
                <a16:creationId xmlns:a16="http://schemas.microsoft.com/office/drawing/2014/main" id="{AD1AE06A-6820-F6E6-4AED-E017F2F2241A}"/>
              </a:ext>
            </a:extLst>
          </p:cNvPr>
          <p:cNvPicPr>
            <a:picLocks noChangeAspect="1"/>
          </p:cNvPicPr>
          <p:nvPr/>
        </p:nvPicPr>
        <p:blipFill>
          <a:blip r:embed="rId6"/>
          <a:stretch>
            <a:fillRect/>
          </a:stretch>
        </p:blipFill>
        <p:spPr>
          <a:xfrm>
            <a:off x="7048063" y="1489820"/>
            <a:ext cx="4190126" cy="3163134"/>
          </a:xfrm>
          <a:prstGeom prst="rect">
            <a:avLst/>
          </a:prstGeom>
        </p:spPr>
      </p:pic>
    </p:spTree>
    <p:extLst>
      <p:ext uri="{BB962C8B-B14F-4D97-AF65-F5344CB8AC3E}">
        <p14:creationId xmlns:p14="http://schemas.microsoft.com/office/powerpoint/2010/main" val="20577276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3A6FF-A9CD-7540-4C73-C7CA97545EF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D04353D4-0553-46DA-9866-CD4A6C35E2C9}"/>
              </a:ext>
            </a:extLst>
          </p:cNvPr>
          <p:cNvSpPr txBox="1">
            <a:spLocks noGrp="1"/>
          </p:cNvSpPr>
          <p:nvPr>
            <p:ph type="title"/>
          </p:nvPr>
        </p:nvSpPr>
        <p:spPr>
          <a:xfrm>
            <a:off x="685800" y="408883"/>
            <a:ext cx="10994410" cy="951543"/>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#1b – Notebook section 1. Technology – </a:t>
            </a:r>
            <a:r>
              <a:rPr lang="en-US" sz="2500" dirty="0">
                <a:solidFill>
                  <a:srgbClr val="FF0000"/>
                </a:solidFill>
              </a:rPr>
              <a:t>MZIs</a:t>
            </a:r>
            <a:br>
              <a:rPr lang="en-US" sz="2500" dirty="0"/>
            </a:br>
            <a:r>
              <a:rPr lang="en-US" sz="1800" b="0" i="1" dirty="0"/>
              <a:t>“Use your design results from Lab2 and Lab3 to create layout instances of your designed components: DCs, MMIs, MZIs &amp; Ring Resonators”</a:t>
            </a:r>
            <a:endParaRPr sz="2500" b="0" i="1" dirty="0">
              <a:latin typeface="+mj-lt"/>
              <a:cs typeface="Lucida Sans"/>
            </a:endParaRPr>
          </a:p>
        </p:txBody>
      </p:sp>
      <p:pic>
        <p:nvPicPr>
          <p:cNvPr id="83" name="Gráfico 82">
            <a:extLst>
              <a:ext uri="{FF2B5EF4-FFF2-40B4-BE49-F238E27FC236}">
                <a16:creationId xmlns:a16="http://schemas.microsoft.com/office/drawing/2014/main" id="{13387A84-70D2-3071-4E09-C6655AB63E6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979DBD95-FB34-F555-C7C3-29226C751050}"/>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A0BD26AD-35C2-6EDF-92AE-B1F9D0A27F09}"/>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2E9FA0F5-C1C5-582E-E4AA-D7154961BFB9}"/>
              </a:ext>
            </a:extLst>
          </p:cNvPr>
          <p:cNvSpPr txBox="1"/>
          <p:nvPr/>
        </p:nvSpPr>
        <p:spPr>
          <a:xfrm>
            <a:off x="609441" y="4860334"/>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dirty="0">
                <a:latin typeface="Arial" panose="020B0604020202020204" pitchFamily="34" charset="0"/>
                <a:cs typeface="Arial" panose="020B0604020202020204" pitchFamily="34" charset="0"/>
              </a:rPr>
              <a:t>Describe component. </a:t>
            </a:r>
            <a:r>
              <a:rPr lang="en-US" sz="1200" b="1" dirty="0">
                <a:solidFill>
                  <a:srgbClr val="FF0000"/>
                </a:solidFill>
                <a:latin typeface="Arial" panose="020B0604020202020204" pitchFamily="34" charset="0"/>
                <a:cs typeface="Arial" panose="020B0604020202020204" pitchFamily="34" charset="0"/>
              </a:rPr>
              <a:t>Example</a:t>
            </a:r>
            <a:r>
              <a:rPr lang="en-US" sz="1200" b="1" dirty="0">
                <a:latin typeface="Arial" panose="020B0604020202020204" pitchFamily="34" charset="0"/>
                <a:cs typeface="Arial" panose="020B0604020202020204" pitchFamily="34" charset="0"/>
              </a:rPr>
              <a:t>: this is the MMI we designed in Lab2, it is a 2x2 with paired interference, target coupling constant K = 0.5. The relevant dimensions are W_MMI = XX µm L_MMI = YY µm and the I/O positions with respect to center are at +/- </a:t>
            </a:r>
            <a:r>
              <a:rPr lang="en-US" sz="1200" b="1" dirty="0" err="1">
                <a:latin typeface="Arial" panose="020B0604020202020204" pitchFamily="34" charset="0"/>
                <a:cs typeface="Arial" panose="020B0604020202020204" pitchFamily="34" charset="0"/>
              </a:rPr>
              <a:t>dY</a:t>
            </a:r>
            <a:r>
              <a:rPr lang="en-US" sz="1200" b="1" dirty="0">
                <a:latin typeface="Arial" panose="020B0604020202020204" pitchFamily="34" charset="0"/>
                <a:cs typeface="Arial" panose="020B0604020202020204" pitchFamily="34" charset="0"/>
              </a:rPr>
              <a:t> µm</a:t>
            </a:r>
          </a:p>
          <a:p>
            <a:pPr algn="just"/>
            <a:r>
              <a:rPr lang="es-ES" sz="1200" noProof="0" dirty="0">
                <a:latin typeface="Arial" panose="020B0604020202020204" pitchFamily="34" charset="0"/>
                <a:cs typeface="Arial" panose="020B0604020202020204" pitchFamily="34" charset="0"/>
              </a:rPr>
              <a:t>Este componente (interferómetro Mach-Zehnder desbalanceado diseñado en el Lab3) está formado por dos acopladores 50/50 y dos brazos de diferente longitud.</a:t>
            </a:r>
          </a:p>
          <a:p>
            <a:pPr algn="just"/>
            <a:r>
              <a:rPr lang="es-ES" sz="1200" noProof="0" dirty="0">
                <a:latin typeface="Arial" panose="020B0604020202020204" pitchFamily="34" charset="0"/>
                <a:cs typeface="Arial" panose="020B0604020202020204" pitchFamily="34" charset="0"/>
              </a:rPr>
              <a:t>La diferencia de longitud entre brazos es </a:t>
            </a:r>
            <a:r>
              <a:rPr lang="es-ES" sz="1200" noProof="0" dirty="0" err="1">
                <a:latin typeface="Arial" panose="020B0604020202020204" pitchFamily="34" charset="0"/>
                <a:cs typeface="Arial" panose="020B0604020202020204" pitchFamily="34" charset="0"/>
              </a:rPr>
              <a:t>dL</a:t>
            </a:r>
            <a:r>
              <a:rPr lang="es-ES" sz="1200" noProof="0" dirty="0">
                <a:latin typeface="Arial" panose="020B0604020202020204" pitchFamily="34" charset="0"/>
                <a:cs typeface="Arial" panose="020B0604020202020204" pitchFamily="34" charset="0"/>
              </a:rPr>
              <a:t> = 100 </a:t>
            </a:r>
            <a:r>
              <a:rPr lang="es-ES" sz="1200" noProof="0" dirty="0" err="1">
                <a:latin typeface="Arial" panose="020B0604020202020204" pitchFamily="34" charset="0"/>
                <a:cs typeface="Arial" panose="020B0604020202020204" pitchFamily="34" charset="0"/>
              </a:rPr>
              <a:t>um</a:t>
            </a:r>
            <a:r>
              <a:rPr lang="es-ES" sz="1200" noProof="0" dirty="0">
                <a:latin typeface="Arial" panose="020B0604020202020204" pitchFamily="34" charset="0"/>
                <a:cs typeface="Arial" panose="020B0604020202020204" pitchFamily="34" charset="0"/>
              </a:rPr>
              <a:t>. Esta diferencia introduce un desfase dependiente de la longitud de onda, produciendo una respuesta espectral periódica. En el Lab3 obtuvimos un FSR de 12 nm alrededor de 1550 nm.</a:t>
            </a:r>
          </a:p>
        </p:txBody>
      </p:sp>
      <p:sp>
        <p:nvSpPr>
          <p:cNvPr id="6" name="Rectángulo 5">
            <a:extLst>
              <a:ext uri="{FF2B5EF4-FFF2-40B4-BE49-F238E27FC236}">
                <a16:creationId xmlns:a16="http://schemas.microsoft.com/office/drawing/2014/main" id="{CB442603-E4D8-A2F5-8758-27389E4820A2}"/>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294B0AD0-9D34-67B2-A7C5-A2FF6D9C3FA4}"/>
              </a:ext>
            </a:extLst>
          </p:cNvPr>
          <p:cNvSpPr txBox="1"/>
          <p:nvPr/>
        </p:nvSpPr>
        <p:spPr>
          <a:xfrm>
            <a:off x="2375901" y="2494307"/>
            <a:ext cx="447154" cy="2308324"/>
          </a:xfrm>
          <a:prstGeom prst="rect">
            <a:avLst/>
          </a:prstGeom>
          <a:noFill/>
        </p:spPr>
        <p:txBody>
          <a:bodyPr wrap="square" rtlCol="0">
            <a:spAutoFit/>
          </a:bodyPr>
          <a:lstStyle/>
          <a:p>
            <a:pPr algn="ctr"/>
            <a:r>
              <a:rPr lang="en-US" dirty="0"/>
              <a:t>Component code</a:t>
            </a:r>
          </a:p>
          <a:p>
            <a:pPr algn="ctr"/>
            <a:endParaRPr lang="en-US" dirty="0"/>
          </a:p>
        </p:txBody>
      </p:sp>
      <p:sp>
        <p:nvSpPr>
          <p:cNvPr id="8" name="Rectángulo 7">
            <a:extLst>
              <a:ext uri="{FF2B5EF4-FFF2-40B4-BE49-F238E27FC236}">
                <a16:creationId xmlns:a16="http://schemas.microsoft.com/office/drawing/2014/main" id="{3BE9F5BE-EBF1-3E6C-69D3-63E2FD58CAB1}"/>
              </a:ext>
            </a:extLst>
          </p:cNvPr>
          <p:cNvSpPr/>
          <p:nvPr/>
        </p:nvSpPr>
        <p:spPr>
          <a:xfrm>
            <a:off x="6476841" y="1420406"/>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9F0B969B-FCED-9212-BBD7-53B4FF460A8B}"/>
              </a:ext>
            </a:extLst>
          </p:cNvPr>
          <p:cNvSpPr txBox="1"/>
          <p:nvPr/>
        </p:nvSpPr>
        <p:spPr>
          <a:xfrm>
            <a:off x="7956912" y="2496339"/>
            <a:ext cx="2372445" cy="369332"/>
          </a:xfrm>
          <a:prstGeom prst="rect">
            <a:avLst/>
          </a:prstGeom>
          <a:noFill/>
        </p:spPr>
        <p:txBody>
          <a:bodyPr wrap="none" rtlCol="0">
            <a:spAutoFit/>
          </a:bodyPr>
          <a:lstStyle/>
          <a:p>
            <a:pPr algn="ctr"/>
            <a:r>
              <a:rPr lang="es-ES" dirty="0" err="1"/>
              <a:t>Component</a:t>
            </a:r>
            <a:r>
              <a:rPr lang="es-ES" dirty="0"/>
              <a:t> </a:t>
            </a:r>
            <a:r>
              <a:rPr lang="es-ES" dirty="0" err="1"/>
              <a:t>screenshot</a:t>
            </a:r>
            <a:endParaRPr lang="en-US" dirty="0"/>
          </a:p>
        </p:txBody>
      </p:sp>
      <p:pic>
        <p:nvPicPr>
          <p:cNvPr id="10" name="Imagen 9">
            <a:extLst>
              <a:ext uri="{FF2B5EF4-FFF2-40B4-BE49-F238E27FC236}">
                <a16:creationId xmlns:a16="http://schemas.microsoft.com/office/drawing/2014/main" id="{9F86F57F-D123-E463-B107-98CEF0161ED0}"/>
              </a:ext>
            </a:extLst>
          </p:cNvPr>
          <p:cNvPicPr>
            <a:picLocks noChangeAspect="1"/>
          </p:cNvPicPr>
          <p:nvPr/>
        </p:nvPicPr>
        <p:blipFill>
          <a:blip r:embed="rId4"/>
          <a:stretch>
            <a:fillRect/>
          </a:stretch>
        </p:blipFill>
        <p:spPr>
          <a:xfrm>
            <a:off x="7050742" y="1420937"/>
            <a:ext cx="4379776" cy="3306302"/>
          </a:xfrm>
          <a:prstGeom prst="rect">
            <a:avLst/>
          </a:prstGeom>
        </p:spPr>
      </p:pic>
      <p:pic>
        <p:nvPicPr>
          <p:cNvPr id="15" name="Imagen 14">
            <a:extLst>
              <a:ext uri="{FF2B5EF4-FFF2-40B4-BE49-F238E27FC236}">
                <a16:creationId xmlns:a16="http://schemas.microsoft.com/office/drawing/2014/main" id="{0662DBFF-7B22-6471-F681-355C3AE9CA46}"/>
              </a:ext>
            </a:extLst>
          </p:cNvPr>
          <p:cNvPicPr>
            <a:picLocks noChangeAspect="1"/>
          </p:cNvPicPr>
          <p:nvPr/>
        </p:nvPicPr>
        <p:blipFill>
          <a:blip r:embed="rId5"/>
          <a:stretch>
            <a:fillRect/>
          </a:stretch>
        </p:blipFill>
        <p:spPr>
          <a:xfrm>
            <a:off x="854371" y="1568874"/>
            <a:ext cx="2136891" cy="3009091"/>
          </a:xfrm>
          <a:prstGeom prst="rect">
            <a:avLst/>
          </a:prstGeom>
        </p:spPr>
      </p:pic>
      <p:pic>
        <p:nvPicPr>
          <p:cNvPr id="18" name="Imagen 17">
            <a:extLst>
              <a:ext uri="{FF2B5EF4-FFF2-40B4-BE49-F238E27FC236}">
                <a16:creationId xmlns:a16="http://schemas.microsoft.com/office/drawing/2014/main" id="{6C6242A7-EA71-9840-A601-9DA0D6A0211C}"/>
              </a:ext>
            </a:extLst>
          </p:cNvPr>
          <p:cNvPicPr>
            <a:picLocks noChangeAspect="1"/>
          </p:cNvPicPr>
          <p:nvPr/>
        </p:nvPicPr>
        <p:blipFill>
          <a:blip r:embed="rId6"/>
          <a:stretch>
            <a:fillRect/>
          </a:stretch>
        </p:blipFill>
        <p:spPr>
          <a:xfrm>
            <a:off x="3201949" y="1568874"/>
            <a:ext cx="2472253" cy="2940216"/>
          </a:xfrm>
          <a:prstGeom prst="rect">
            <a:avLst/>
          </a:prstGeom>
        </p:spPr>
      </p:pic>
    </p:spTree>
    <p:extLst>
      <p:ext uri="{BB962C8B-B14F-4D97-AF65-F5344CB8AC3E}">
        <p14:creationId xmlns:p14="http://schemas.microsoft.com/office/powerpoint/2010/main" val="13032119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2C34E-F372-979F-0CFD-115BDA76594E}"/>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C1689AAC-8C7B-E568-3BDA-2EB1363FFB21}"/>
              </a:ext>
            </a:extLst>
          </p:cNvPr>
          <p:cNvSpPr txBox="1">
            <a:spLocks noGrp="1"/>
          </p:cNvSpPr>
          <p:nvPr>
            <p:ph type="title"/>
          </p:nvPr>
        </p:nvSpPr>
        <p:spPr>
          <a:xfrm>
            <a:off x="685800" y="408883"/>
            <a:ext cx="10994410" cy="951543"/>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#1b – Notebook section 1. Technology – </a:t>
            </a:r>
            <a:r>
              <a:rPr lang="en-US" sz="2500" dirty="0">
                <a:solidFill>
                  <a:srgbClr val="FF0000"/>
                </a:solidFill>
              </a:rPr>
              <a:t>Ring Resonator</a:t>
            </a:r>
            <a:br>
              <a:rPr lang="en-US" sz="2500" dirty="0"/>
            </a:br>
            <a:r>
              <a:rPr lang="en-US" sz="1800" b="0" i="1" dirty="0"/>
              <a:t>“Use your design results from Lab2 and Lab3 to create layout instances of your designed components: DCs, MMIs, MZIs &amp; Ring Resonators”</a:t>
            </a:r>
            <a:endParaRPr sz="2500" b="0" i="1" dirty="0">
              <a:latin typeface="+mj-lt"/>
              <a:cs typeface="Lucida Sans"/>
            </a:endParaRPr>
          </a:p>
        </p:txBody>
      </p:sp>
      <p:pic>
        <p:nvPicPr>
          <p:cNvPr id="83" name="Gráfico 82">
            <a:extLst>
              <a:ext uri="{FF2B5EF4-FFF2-40B4-BE49-F238E27FC236}">
                <a16:creationId xmlns:a16="http://schemas.microsoft.com/office/drawing/2014/main" id="{0165BEF5-B9BF-5D5E-D5DF-E17C20E792F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D1521216-1BD8-3245-B758-511386ECEDEC}"/>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B70E5DD7-5EDB-753E-C333-106B87F3AB3A}"/>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7133B7D7-0B71-B075-234E-D35CEFE89DF9}"/>
              </a:ext>
            </a:extLst>
          </p:cNvPr>
          <p:cNvSpPr txBox="1"/>
          <p:nvPr/>
        </p:nvSpPr>
        <p:spPr>
          <a:xfrm>
            <a:off x="609441" y="4860334"/>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dirty="0">
                <a:latin typeface="Arial" panose="020B0604020202020204" pitchFamily="34" charset="0"/>
                <a:cs typeface="Arial" panose="020B0604020202020204" pitchFamily="34" charset="0"/>
              </a:rPr>
              <a:t>Describe component. </a:t>
            </a:r>
            <a:r>
              <a:rPr lang="en-US" sz="1200" b="1" dirty="0">
                <a:solidFill>
                  <a:srgbClr val="FF0000"/>
                </a:solidFill>
                <a:latin typeface="Arial" panose="020B0604020202020204" pitchFamily="34" charset="0"/>
                <a:cs typeface="Arial" panose="020B0604020202020204" pitchFamily="34" charset="0"/>
              </a:rPr>
              <a:t>Example</a:t>
            </a:r>
            <a:r>
              <a:rPr lang="en-US" sz="1200" b="1" dirty="0">
                <a:latin typeface="Arial" panose="020B0604020202020204" pitchFamily="34" charset="0"/>
                <a:cs typeface="Arial" panose="020B0604020202020204" pitchFamily="34" charset="0"/>
              </a:rPr>
              <a:t>: this is the MMI we designed in Lab2, it is a 2x2 with paired interference, target coupling constant K = 0.5. The relevant dimensions are W_MMI = XX µm L_MMI = YY µm and the I/O positions with respect to center are at +/- </a:t>
            </a:r>
            <a:r>
              <a:rPr lang="en-US" sz="1200" b="1" dirty="0" err="1">
                <a:latin typeface="Arial" panose="020B0604020202020204" pitchFamily="34" charset="0"/>
                <a:cs typeface="Arial" panose="020B0604020202020204" pitchFamily="34" charset="0"/>
              </a:rPr>
              <a:t>dY</a:t>
            </a:r>
            <a:r>
              <a:rPr lang="en-US" sz="1200" b="1" dirty="0">
                <a:latin typeface="Arial" panose="020B0604020202020204" pitchFamily="34" charset="0"/>
                <a:cs typeface="Arial" panose="020B0604020202020204" pitchFamily="34" charset="0"/>
              </a:rPr>
              <a:t> µm</a:t>
            </a:r>
          </a:p>
          <a:p>
            <a:pPr algn="just"/>
            <a:r>
              <a:rPr lang="es-ES" sz="1200" noProof="0" dirty="0">
                <a:latin typeface="Arial" panose="020B0604020202020204" pitchFamily="34" charset="0"/>
                <a:cs typeface="Arial" panose="020B0604020202020204" pitchFamily="34" charset="0"/>
              </a:rPr>
              <a:t>Este componente (resonador en anillo </a:t>
            </a:r>
            <a:r>
              <a:rPr lang="es-ES" sz="1200" noProof="0" dirty="0" err="1">
                <a:latin typeface="Arial" panose="020B0604020202020204" pitchFamily="34" charset="0"/>
                <a:cs typeface="Arial" panose="020B0604020202020204" pitchFamily="34" charset="0"/>
              </a:rPr>
              <a:t>all-pas</a:t>
            </a:r>
            <a:r>
              <a:rPr lang="es-ES" sz="1200" noProof="0" dirty="0">
                <a:latin typeface="Arial" panose="020B0604020202020204" pitchFamily="34" charset="0"/>
                <a:cs typeface="Arial" panose="020B0604020202020204" pitchFamily="34" charset="0"/>
              </a:rPr>
              <a:t> diseñado en el Lab3) está formado por una guía bus acoplada lateralmente a un anillo resonante.</a:t>
            </a:r>
          </a:p>
          <a:p>
            <a:pPr algn="just"/>
            <a:r>
              <a:rPr lang="es-ES" sz="1200" noProof="0" dirty="0">
                <a:latin typeface="Arial" panose="020B0604020202020204" pitchFamily="34" charset="0"/>
                <a:cs typeface="Arial" panose="020B0604020202020204" pitchFamily="34" charset="0"/>
              </a:rPr>
              <a:t>Seleccionamos un perímetro de aproximadamente 80.083 </a:t>
            </a:r>
            <a:r>
              <a:rPr lang="es-ES" sz="1200" noProof="0" dirty="0" err="1">
                <a:latin typeface="Arial" panose="020B0604020202020204" pitchFamily="34" charset="0"/>
                <a:cs typeface="Arial" panose="020B0604020202020204" pitchFamily="34" charset="0"/>
              </a:rPr>
              <a:t>um</a:t>
            </a:r>
            <a:r>
              <a:rPr lang="es-ES" sz="1200" noProof="0" dirty="0">
                <a:latin typeface="Arial" panose="020B0604020202020204" pitchFamily="34" charset="0"/>
                <a:cs typeface="Arial" panose="020B0604020202020204" pitchFamily="34" charset="0"/>
              </a:rPr>
              <a:t> para obtener un FSR de 15 nm. El coeficiente de acoplo crítico calculado fue de K=0.308 (valor para el cual las pérdidas internas del anillo se igualan al acoplamiento con la guía bus.</a:t>
            </a:r>
          </a:p>
        </p:txBody>
      </p:sp>
      <p:sp>
        <p:nvSpPr>
          <p:cNvPr id="6" name="Rectángulo 5">
            <a:extLst>
              <a:ext uri="{FF2B5EF4-FFF2-40B4-BE49-F238E27FC236}">
                <a16:creationId xmlns:a16="http://schemas.microsoft.com/office/drawing/2014/main" id="{B62753BA-4709-432A-41D5-637E4B5E3561}"/>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9D3CFB50-638A-A01F-0F62-21DE9C1CECC7}"/>
              </a:ext>
            </a:extLst>
          </p:cNvPr>
          <p:cNvSpPr txBox="1"/>
          <p:nvPr/>
        </p:nvSpPr>
        <p:spPr>
          <a:xfrm>
            <a:off x="2375901" y="2494306"/>
            <a:ext cx="1799660" cy="646331"/>
          </a:xfrm>
          <a:prstGeom prst="rect">
            <a:avLst/>
          </a:prstGeom>
          <a:noFill/>
        </p:spPr>
        <p:txBody>
          <a:bodyPr wrap="none" rtlCol="0">
            <a:spAutoFit/>
          </a:bodyPr>
          <a:lstStyle/>
          <a:p>
            <a:pPr algn="ctr"/>
            <a:r>
              <a:rPr lang="en-US" dirty="0"/>
              <a:t>Component code</a:t>
            </a:r>
          </a:p>
          <a:p>
            <a:pPr algn="ctr"/>
            <a:endParaRPr lang="en-US" dirty="0"/>
          </a:p>
        </p:txBody>
      </p:sp>
      <p:sp>
        <p:nvSpPr>
          <p:cNvPr id="8" name="Rectángulo 7">
            <a:extLst>
              <a:ext uri="{FF2B5EF4-FFF2-40B4-BE49-F238E27FC236}">
                <a16:creationId xmlns:a16="http://schemas.microsoft.com/office/drawing/2014/main" id="{5DC4D1E6-255B-4C6D-2D3E-5E343DFAA30F}"/>
              </a:ext>
            </a:extLst>
          </p:cNvPr>
          <p:cNvSpPr/>
          <p:nvPr/>
        </p:nvSpPr>
        <p:spPr>
          <a:xfrm>
            <a:off x="6476841" y="1420406"/>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54397C79-BA73-ACFB-0338-C4B917DAC08A}"/>
              </a:ext>
            </a:extLst>
          </p:cNvPr>
          <p:cNvSpPr txBox="1"/>
          <p:nvPr/>
        </p:nvSpPr>
        <p:spPr>
          <a:xfrm>
            <a:off x="7956912" y="2496339"/>
            <a:ext cx="2372445" cy="369332"/>
          </a:xfrm>
          <a:prstGeom prst="rect">
            <a:avLst/>
          </a:prstGeom>
          <a:noFill/>
        </p:spPr>
        <p:txBody>
          <a:bodyPr wrap="none" rtlCol="0">
            <a:spAutoFit/>
          </a:bodyPr>
          <a:lstStyle/>
          <a:p>
            <a:pPr algn="ctr"/>
            <a:r>
              <a:rPr lang="es-ES" dirty="0" err="1"/>
              <a:t>Component</a:t>
            </a:r>
            <a:r>
              <a:rPr lang="es-ES" dirty="0"/>
              <a:t> </a:t>
            </a:r>
            <a:r>
              <a:rPr lang="es-ES" dirty="0" err="1"/>
              <a:t>screenshot</a:t>
            </a:r>
            <a:endParaRPr lang="en-US" dirty="0"/>
          </a:p>
        </p:txBody>
      </p:sp>
      <p:pic>
        <p:nvPicPr>
          <p:cNvPr id="10" name="Imagen 9">
            <a:extLst>
              <a:ext uri="{FF2B5EF4-FFF2-40B4-BE49-F238E27FC236}">
                <a16:creationId xmlns:a16="http://schemas.microsoft.com/office/drawing/2014/main" id="{1F9D1305-398C-660C-F1F4-33F871869712}"/>
              </a:ext>
            </a:extLst>
          </p:cNvPr>
          <p:cNvPicPr>
            <a:picLocks noChangeAspect="1"/>
          </p:cNvPicPr>
          <p:nvPr/>
        </p:nvPicPr>
        <p:blipFill>
          <a:blip r:embed="rId4"/>
          <a:stretch>
            <a:fillRect/>
          </a:stretch>
        </p:blipFill>
        <p:spPr>
          <a:xfrm>
            <a:off x="7058109" y="1494626"/>
            <a:ext cx="4170033" cy="3147966"/>
          </a:xfrm>
          <a:prstGeom prst="rect">
            <a:avLst/>
          </a:prstGeom>
        </p:spPr>
      </p:pic>
      <p:pic>
        <p:nvPicPr>
          <p:cNvPr id="13" name="Imagen 12">
            <a:extLst>
              <a:ext uri="{FF2B5EF4-FFF2-40B4-BE49-F238E27FC236}">
                <a16:creationId xmlns:a16="http://schemas.microsoft.com/office/drawing/2014/main" id="{5CE93330-C9C1-1BE5-09F6-D6A2E0F83E66}"/>
              </a:ext>
            </a:extLst>
          </p:cNvPr>
          <p:cNvPicPr>
            <a:picLocks noChangeAspect="1"/>
          </p:cNvPicPr>
          <p:nvPr/>
        </p:nvPicPr>
        <p:blipFill>
          <a:blip r:embed="rId5"/>
          <a:stretch>
            <a:fillRect/>
          </a:stretch>
        </p:blipFill>
        <p:spPr>
          <a:xfrm>
            <a:off x="1878685" y="1679620"/>
            <a:ext cx="2556957" cy="2878751"/>
          </a:xfrm>
          <a:prstGeom prst="rect">
            <a:avLst/>
          </a:prstGeom>
        </p:spPr>
      </p:pic>
    </p:spTree>
    <p:extLst>
      <p:ext uri="{BB962C8B-B14F-4D97-AF65-F5344CB8AC3E}">
        <p14:creationId xmlns:p14="http://schemas.microsoft.com/office/powerpoint/2010/main" val="37537423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5B0A8-BCE1-AF65-5AFA-79184BEDA90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DCA2EEE-70B8-D049-D7BD-B54DCCF3207D}"/>
              </a:ext>
            </a:extLst>
          </p:cNvPr>
          <p:cNvSpPr txBox="1">
            <a:spLocks noGrp="1"/>
          </p:cNvSpPr>
          <p:nvPr>
            <p:ph type="title"/>
          </p:nvPr>
        </p:nvSpPr>
        <p:spPr>
          <a:xfrm>
            <a:off x="685800" y="408883"/>
            <a:ext cx="10994410" cy="951543"/>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#2a – Notebook section 2. Layout Fundamentals</a:t>
            </a:r>
            <a:br>
              <a:rPr lang="en-US" sz="2500" dirty="0"/>
            </a:br>
            <a:r>
              <a:rPr lang="en-US" sz="1800" b="0" i="1" dirty="0"/>
              <a:t>“Once that we have a working 'new' component, we shall convert it into a Cell. This will allow us to have a hierarchical design”</a:t>
            </a:r>
            <a:endParaRPr sz="2500" b="0" i="1" dirty="0">
              <a:latin typeface="+mj-lt"/>
              <a:cs typeface="Lucida Sans"/>
            </a:endParaRPr>
          </a:p>
        </p:txBody>
      </p:sp>
      <p:pic>
        <p:nvPicPr>
          <p:cNvPr id="83" name="Gráfico 82">
            <a:extLst>
              <a:ext uri="{FF2B5EF4-FFF2-40B4-BE49-F238E27FC236}">
                <a16:creationId xmlns:a16="http://schemas.microsoft.com/office/drawing/2014/main" id="{DDB8C9DA-7093-6464-A7C1-20B2A585A1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102C027-A211-C670-7EF5-D7A4650EEA98}"/>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3BB5A66E-75F8-8688-0D68-26E0DDB3AC86}"/>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35C0B36B-B4BD-C242-E1BB-26DD7AC56DB0}"/>
              </a:ext>
            </a:extLst>
          </p:cNvPr>
          <p:cNvSpPr txBox="1"/>
          <p:nvPr/>
        </p:nvSpPr>
        <p:spPr>
          <a:xfrm>
            <a:off x="609441" y="4860334"/>
            <a:ext cx="11199971" cy="1569660"/>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dirty="0">
                <a:latin typeface="Arial" panose="020B0604020202020204" pitchFamily="34" charset="0"/>
                <a:cs typeface="Arial" panose="020B0604020202020204" pitchFamily="34" charset="0"/>
              </a:rPr>
              <a:t>Describe component: </a:t>
            </a:r>
          </a:p>
          <a:p>
            <a:pPr algn="just"/>
            <a:r>
              <a:rPr lang="es-ES" sz="1200" noProof="0" dirty="0">
                <a:latin typeface="Arial" panose="020B0604020202020204" pitchFamily="34" charset="0"/>
                <a:cs typeface="Arial" panose="020B0604020202020204" pitchFamily="34" charset="0"/>
              </a:rPr>
              <a:t>Encontramos el concepto de diseño jerárquico mediante celdas (</a:t>
            </a:r>
            <a:r>
              <a:rPr lang="es-ES" sz="1200" noProof="0" dirty="0" err="1">
                <a:latin typeface="Arial" panose="020B0604020202020204" pitchFamily="34" charset="0"/>
                <a:cs typeface="Arial" panose="020B0604020202020204" pitchFamily="34" charset="0"/>
              </a:rPr>
              <a:t>cells</a:t>
            </a:r>
            <a:r>
              <a:rPr lang="es-ES" sz="1200" noProof="0" dirty="0">
                <a:latin typeface="Arial" panose="020B0604020202020204" pitchFamily="34" charset="0"/>
                <a:cs typeface="Arial" panose="020B0604020202020204" pitchFamily="34" charset="0"/>
              </a:rPr>
              <a:t>) en </a:t>
            </a:r>
            <a:r>
              <a:rPr lang="es-ES" sz="1200" noProof="0" dirty="0" err="1">
                <a:latin typeface="Arial" panose="020B0604020202020204" pitchFamily="34" charset="0"/>
                <a:cs typeface="Arial" panose="020B0604020202020204" pitchFamily="34" charset="0"/>
              </a:rPr>
              <a:t>GDSFactory</a:t>
            </a:r>
            <a:r>
              <a:rPr lang="es-ES" sz="1200" noProof="0" dirty="0">
                <a:latin typeface="Arial" panose="020B0604020202020204" pitchFamily="34" charset="0"/>
                <a:cs typeface="Arial" panose="020B0604020202020204" pitchFamily="34" charset="0"/>
              </a:rPr>
              <a:t>.</a:t>
            </a:r>
          </a:p>
          <a:p>
            <a:pPr algn="just"/>
            <a:r>
              <a:rPr lang="es-ES" sz="1200" noProof="0" dirty="0">
                <a:latin typeface="Arial" panose="020B0604020202020204" pitchFamily="34" charset="0"/>
                <a:cs typeface="Arial" panose="020B0604020202020204" pitchFamily="34" charset="0"/>
              </a:rPr>
              <a:t>En la imagen se ve un die fotónico, es decir, el área física que ocupará el circuito dentro del chip. Para ello se generan dos rectángulos: uno exterior que define las dimensiones totales del chip y otro interior desplazado una distancia determinada (</a:t>
            </a:r>
            <a:r>
              <a:rPr lang="es-ES" sz="1200" noProof="0" dirty="0" err="1">
                <a:latin typeface="Arial" panose="020B0604020202020204" pitchFamily="34" charset="0"/>
                <a:cs typeface="Arial" panose="020B0604020202020204" pitchFamily="34" charset="0"/>
              </a:rPr>
              <a:t>border</a:t>
            </a:r>
            <a:r>
              <a:rPr lang="es-ES" sz="1200" noProof="0" dirty="0">
                <a:latin typeface="Arial" panose="020B0604020202020204" pitchFamily="34" charset="0"/>
                <a:cs typeface="Arial" panose="020B0604020202020204" pitchFamily="34" charset="0"/>
              </a:rPr>
              <a:t>). Mediante una operación booleana de diferencia (A-B) se obtiene únicamente el macro exterior del die.</a:t>
            </a:r>
          </a:p>
          <a:p>
            <a:pPr algn="just"/>
            <a:r>
              <a:rPr lang="es-ES" sz="1200" noProof="0" dirty="0">
                <a:latin typeface="Arial" panose="020B0604020202020204" pitchFamily="34" charset="0"/>
                <a:cs typeface="Arial" panose="020B0604020202020204" pitchFamily="34" charset="0"/>
              </a:rPr>
              <a:t>Además, se añade un puerto denominado “</a:t>
            </a:r>
            <a:r>
              <a:rPr lang="es-ES" sz="1200" noProof="0" dirty="0" err="1">
                <a:latin typeface="Arial" panose="020B0604020202020204" pitchFamily="34" charset="0"/>
                <a:cs typeface="Arial" panose="020B0604020202020204" pitchFamily="34" charset="0"/>
              </a:rPr>
              <a:t>block@org</a:t>
            </a:r>
            <a:r>
              <a:rPr lang="es-ES" sz="1200" noProof="0" dirty="0">
                <a:latin typeface="Arial" panose="020B0604020202020204" pitchFamily="34" charset="0"/>
                <a:cs typeface="Arial" panose="020B0604020202020204" pitchFamily="34" charset="0"/>
              </a:rPr>
              <a:t>”, que servirá como referencia para posicionar posteriormente otro </a:t>
            </a:r>
            <a:r>
              <a:rPr lang="es-ES" sz="1200" noProof="0" dirty="0" err="1">
                <a:latin typeface="Arial" panose="020B0604020202020204" pitchFamily="34" charset="0"/>
                <a:cs typeface="Arial" panose="020B0604020202020204" pitchFamily="34" charset="0"/>
              </a:rPr>
              <a:t>components</a:t>
            </a:r>
            <a:r>
              <a:rPr lang="es-ES" sz="1200" noProof="0" dirty="0">
                <a:latin typeface="Arial" panose="020B0604020202020204" pitchFamily="34" charset="0"/>
                <a:cs typeface="Arial" panose="020B0604020202020204" pitchFamily="34" charset="0"/>
              </a:rPr>
              <a:t> dentro del diseño.</a:t>
            </a:r>
          </a:p>
          <a:p>
            <a:pPr algn="just"/>
            <a:r>
              <a:rPr lang="es-ES" sz="1200" noProof="0" dirty="0">
                <a:latin typeface="Arial" panose="020B0604020202020204" pitchFamily="34" charset="0"/>
                <a:cs typeface="Arial" panose="020B0604020202020204" pitchFamily="34" charset="0"/>
              </a:rPr>
              <a:t>Finalmente, el componente se convierte en una celda utilizando el decorador @gf.cell. Esto permite reutilizar el mismo diseño </a:t>
            </a:r>
            <a:r>
              <a:rPr lang="es-ES" sz="1200" noProof="0" dirty="0" err="1">
                <a:latin typeface="Arial" panose="020B0604020202020204" pitchFamily="34" charset="0"/>
                <a:cs typeface="Arial" panose="020B0604020202020204" pitchFamily="34" charset="0"/>
              </a:rPr>
              <a:t>multiples</a:t>
            </a:r>
            <a:r>
              <a:rPr lang="es-ES" sz="1200" noProof="0" dirty="0">
                <a:latin typeface="Arial" panose="020B0604020202020204" pitchFamily="34" charset="0"/>
                <a:cs typeface="Arial" panose="020B0604020202020204" pitchFamily="34" charset="0"/>
              </a:rPr>
              <a:t> veces dentro de un </a:t>
            </a:r>
            <a:r>
              <a:rPr lang="es-ES" sz="1200" noProof="0" dirty="0" err="1">
                <a:latin typeface="Arial" panose="020B0604020202020204" pitchFamily="34" charset="0"/>
                <a:cs typeface="Arial" panose="020B0604020202020204" pitchFamily="34" charset="0"/>
              </a:rPr>
              <a:t>layout</a:t>
            </a:r>
            <a:r>
              <a:rPr lang="es-ES" sz="1200" noProof="0" dirty="0">
                <a:latin typeface="Arial" panose="020B0604020202020204" pitchFamily="34" charset="0"/>
                <a:cs typeface="Arial" panose="020B0604020202020204" pitchFamily="34" charset="0"/>
              </a:rPr>
              <a:t> sin duplicar geometría, implementando así una estructura jerárquica más eficiente y organizada. </a:t>
            </a:r>
          </a:p>
        </p:txBody>
      </p:sp>
      <p:sp>
        <p:nvSpPr>
          <p:cNvPr id="6" name="Rectángulo 5">
            <a:extLst>
              <a:ext uri="{FF2B5EF4-FFF2-40B4-BE49-F238E27FC236}">
                <a16:creationId xmlns:a16="http://schemas.microsoft.com/office/drawing/2014/main" id="{399364F4-A34A-5161-07CB-E12F9FFCB400}"/>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CuadroTexto 6">
            <a:extLst>
              <a:ext uri="{FF2B5EF4-FFF2-40B4-BE49-F238E27FC236}">
                <a16:creationId xmlns:a16="http://schemas.microsoft.com/office/drawing/2014/main" id="{62A2AA3F-CE55-C50B-CB18-2C8D2061FDB9}"/>
              </a:ext>
            </a:extLst>
          </p:cNvPr>
          <p:cNvSpPr txBox="1"/>
          <p:nvPr/>
        </p:nvSpPr>
        <p:spPr>
          <a:xfrm>
            <a:off x="1531402" y="2609722"/>
            <a:ext cx="3488647" cy="923330"/>
          </a:xfrm>
          <a:prstGeom prst="rect">
            <a:avLst/>
          </a:prstGeom>
          <a:noFill/>
        </p:spPr>
        <p:txBody>
          <a:bodyPr wrap="none" rtlCol="0">
            <a:spAutoFit/>
          </a:bodyPr>
          <a:lstStyle/>
          <a:p>
            <a:pPr algn="ctr"/>
            <a:r>
              <a:rPr lang="en-US" dirty="0"/>
              <a:t>Example code for</a:t>
            </a:r>
          </a:p>
          <a:p>
            <a:pPr algn="ctr"/>
            <a:r>
              <a:rPr lang="en-US" dirty="0"/>
              <a:t>“A die (chip) for a photonic layout”</a:t>
            </a:r>
          </a:p>
          <a:p>
            <a:pPr algn="ctr"/>
            <a:endParaRPr lang="en-US" dirty="0"/>
          </a:p>
        </p:txBody>
      </p:sp>
      <p:sp>
        <p:nvSpPr>
          <p:cNvPr id="8" name="Rectángulo 7">
            <a:extLst>
              <a:ext uri="{FF2B5EF4-FFF2-40B4-BE49-F238E27FC236}">
                <a16:creationId xmlns:a16="http://schemas.microsoft.com/office/drawing/2014/main" id="{4DFC788C-53E2-83E7-3D9E-EBD582171C71}"/>
              </a:ext>
            </a:extLst>
          </p:cNvPr>
          <p:cNvSpPr/>
          <p:nvPr/>
        </p:nvSpPr>
        <p:spPr>
          <a:xfrm>
            <a:off x="6476841" y="1420406"/>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2C44A1ED-9D94-1354-DB46-756E574E2C7E}"/>
              </a:ext>
            </a:extLst>
          </p:cNvPr>
          <p:cNvSpPr txBox="1"/>
          <p:nvPr/>
        </p:nvSpPr>
        <p:spPr>
          <a:xfrm>
            <a:off x="8483018" y="2496339"/>
            <a:ext cx="1320234" cy="646331"/>
          </a:xfrm>
          <a:prstGeom prst="rect">
            <a:avLst/>
          </a:prstGeom>
          <a:noFill/>
        </p:spPr>
        <p:txBody>
          <a:bodyPr wrap="none" rtlCol="0">
            <a:spAutoFit/>
          </a:bodyPr>
          <a:lstStyle/>
          <a:p>
            <a:pPr algn="ctr"/>
            <a:r>
              <a:rPr lang="es-ES" dirty="0" err="1"/>
              <a:t>Example</a:t>
            </a:r>
            <a:r>
              <a:rPr lang="es-ES" dirty="0"/>
              <a:t> die</a:t>
            </a:r>
          </a:p>
          <a:p>
            <a:pPr algn="ctr"/>
            <a:r>
              <a:rPr lang="es-ES" dirty="0"/>
              <a:t> </a:t>
            </a:r>
            <a:r>
              <a:rPr lang="es-ES" dirty="0" err="1"/>
              <a:t>screenshot</a:t>
            </a:r>
            <a:endParaRPr lang="en-US" dirty="0"/>
          </a:p>
        </p:txBody>
      </p:sp>
      <p:pic>
        <p:nvPicPr>
          <p:cNvPr id="13" name="Imagen 12">
            <a:extLst>
              <a:ext uri="{FF2B5EF4-FFF2-40B4-BE49-F238E27FC236}">
                <a16:creationId xmlns:a16="http://schemas.microsoft.com/office/drawing/2014/main" id="{15280A1E-73E6-3D75-F0AC-ABCB6876F57F}"/>
              </a:ext>
            </a:extLst>
          </p:cNvPr>
          <p:cNvPicPr>
            <a:picLocks noChangeAspect="1"/>
          </p:cNvPicPr>
          <p:nvPr/>
        </p:nvPicPr>
        <p:blipFill>
          <a:blip r:embed="rId4"/>
          <a:stretch>
            <a:fillRect/>
          </a:stretch>
        </p:blipFill>
        <p:spPr>
          <a:xfrm>
            <a:off x="685800" y="1600200"/>
            <a:ext cx="2854871" cy="2866007"/>
          </a:xfrm>
          <a:prstGeom prst="rect">
            <a:avLst/>
          </a:prstGeom>
        </p:spPr>
      </p:pic>
      <p:pic>
        <p:nvPicPr>
          <p:cNvPr id="15" name="Imagen 14">
            <a:extLst>
              <a:ext uri="{FF2B5EF4-FFF2-40B4-BE49-F238E27FC236}">
                <a16:creationId xmlns:a16="http://schemas.microsoft.com/office/drawing/2014/main" id="{8EC3F22F-F6E1-E379-2DCB-30A8E82437F2}"/>
              </a:ext>
            </a:extLst>
          </p:cNvPr>
          <p:cNvPicPr>
            <a:picLocks noChangeAspect="1"/>
          </p:cNvPicPr>
          <p:nvPr/>
        </p:nvPicPr>
        <p:blipFill>
          <a:blip r:embed="rId5"/>
          <a:stretch>
            <a:fillRect/>
          </a:stretch>
        </p:blipFill>
        <p:spPr>
          <a:xfrm>
            <a:off x="3540671" y="1933720"/>
            <a:ext cx="2295356" cy="2353320"/>
          </a:xfrm>
          <a:prstGeom prst="rect">
            <a:avLst/>
          </a:prstGeom>
        </p:spPr>
      </p:pic>
      <p:pic>
        <p:nvPicPr>
          <p:cNvPr id="18" name="Imagen 17">
            <a:extLst>
              <a:ext uri="{FF2B5EF4-FFF2-40B4-BE49-F238E27FC236}">
                <a16:creationId xmlns:a16="http://schemas.microsoft.com/office/drawing/2014/main" id="{D3505078-797B-1A20-E7D9-D7E7E264B4A3}"/>
              </a:ext>
            </a:extLst>
          </p:cNvPr>
          <p:cNvPicPr>
            <a:picLocks noChangeAspect="1"/>
          </p:cNvPicPr>
          <p:nvPr/>
        </p:nvPicPr>
        <p:blipFill>
          <a:blip r:embed="rId6"/>
          <a:stretch>
            <a:fillRect/>
          </a:stretch>
        </p:blipFill>
        <p:spPr>
          <a:xfrm>
            <a:off x="7003889" y="1456473"/>
            <a:ext cx="4278473" cy="3229827"/>
          </a:xfrm>
          <a:prstGeom prst="rect">
            <a:avLst/>
          </a:prstGeom>
        </p:spPr>
      </p:pic>
    </p:spTree>
    <p:extLst>
      <p:ext uri="{BB962C8B-B14F-4D97-AF65-F5344CB8AC3E}">
        <p14:creationId xmlns:p14="http://schemas.microsoft.com/office/powerpoint/2010/main" val="1203241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D281E-4B83-CADF-E05C-2779A19E8BE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C614703-AB72-E989-42B5-849A55E9B3E2}"/>
              </a:ext>
            </a:extLst>
          </p:cNvPr>
          <p:cNvSpPr txBox="1">
            <a:spLocks noGrp="1"/>
          </p:cNvSpPr>
          <p:nvPr>
            <p:ph type="title"/>
          </p:nvPr>
        </p:nvSpPr>
        <p:spPr>
          <a:xfrm>
            <a:off x="685800" y="408883"/>
            <a:ext cx="10994410" cy="874598"/>
          </a:xfrm>
          <a:prstGeom prst="rect">
            <a:avLst/>
          </a:prstGeom>
        </p:spPr>
        <p:txBody>
          <a:bodyPr vert="horz" wrap="square" lIns="0" tIns="12700" rIns="0" bIns="0" rtlCol="0">
            <a:spAutoFit/>
          </a:bodyPr>
          <a:lstStyle/>
          <a:p>
            <a:pPr marL="12700" algn="l">
              <a:lnSpc>
                <a:spcPct val="100000"/>
              </a:lnSpc>
              <a:spcBef>
                <a:spcPts val="100"/>
              </a:spcBef>
            </a:pPr>
            <a:r>
              <a:rPr lang="en-US" dirty="0"/>
              <a:t>Learning outcome #2a – Notebook section 2. Layout Fundamentals – </a:t>
            </a:r>
            <a:r>
              <a:rPr lang="en-US" dirty="0">
                <a:solidFill>
                  <a:srgbClr val="FF0000"/>
                </a:solidFill>
              </a:rPr>
              <a:t>DCs</a:t>
            </a:r>
            <a:br>
              <a:rPr lang="en-US" sz="2500" dirty="0"/>
            </a:br>
            <a:r>
              <a:rPr lang="en-US" sz="1800" b="0" i="1" dirty="0"/>
              <a:t>“Use your design results from Lab2 and Lab3 to create layout instances of your designed components: DCs, MMIs, MZIs &amp; Ring Resonators” </a:t>
            </a:r>
            <a:r>
              <a:rPr lang="en-US" sz="1800" b="0" i="1" dirty="0">
                <a:solidFill>
                  <a:srgbClr val="FF0000"/>
                </a:solidFill>
                <a:sym typeface="Wingdings" pitchFamily="2" charset="2"/>
              </a:rPr>
              <a:t> Make cells for all your components</a:t>
            </a:r>
            <a:endParaRPr sz="2500" b="0" i="1" dirty="0">
              <a:solidFill>
                <a:srgbClr val="FF0000"/>
              </a:solidFill>
              <a:latin typeface="+mj-lt"/>
              <a:cs typeface="Lucida Sans"/>
            </a:endParaRPr>
          </a:p>
        </p:txBody>
      </p:sp>
      <p:pic>
        <p:nvPicPr>
          <p:cNvPr id="83" name="Gráfico 82">
            <a:extLst>
              <a:ext uri="{FF2B5EF4-FFF2-40B4-BE49-F238E27FC236}">
                <a16:creationId xmlns:a16="http://schemas.microsoft.com/office/drawing/2014/main" id="{B2356666-601E-2F0B-B414-AFB7213C2F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6398BF1-A4DD-D652-E241-5E9DB50DD57A}"/>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3" name="Marcador de pie de página 2">
            <a:extLst>
              <a:ext uri="{FF2B5EF4-FFF2-40B4-BE49-F238E27FC236}">
                <a16:creationId xmlns:a16="http://schemas.microsoft.com/office/drawing/2014/main" id="{CEC070D5-9297-7D8B-73E0-DC21D7D5CE09}"/>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6" name="Rectángulo 5">
            <a:extLst>
              <a:ext uri="{FF2B5EF4-FFF2-40B4-BE49-F238E27FC236}">
                <a16:creationId xmlns:a16="http://schemas.microsoft.com/office/drawing/2014/main" id="{D8C2352E-973A-F389-F6A1-D644E07F2E7E}"/>
              </a:ext>
            </a:extLst>
          </p:cNvPr>
          <p:cNvSpPr/>
          <p:nvPr/>
        </p:nvSpPr>
        <p:spPr>
          <a:xfrm>
            <a:off x="609441" y="1418373"/>
            <a:ext cx="4572159"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792D8CBF-451B-83CB-7D64-3CD9C64B8333}"/>
              </a:ext>
            </a:extLst>
          </p:cNvPr>
          <p:cNvSpPr txBox="1"/>
          <p:nvPr/>
        </p:nvSpPr>
        <p:spPr>
          <a:xfrm>
            <a:off x="2063317" y="2494306"/>
            <a:ext cx="1289484" cy="923330"/>
          </a:xfrm>
          <a:prstGeom prst="rect">
            <a:avLst/>
          </a:prstGeom>
          <a:noFill/>
        </p:spPr>
        <p:txBody>
          <a:bodyPr wrap="square" rtlCol="0">
            <a:spAutoFit/>
          </a:bodyPr>
          <a:lstStyle/>
          <a:p>
            <a:pPr algn="ctr"/>
            <a:r>
              <a:rPr lang="en-US" dirty="0"/>
              <a:t>Component as cell code</a:t>
            </a:r>
          </a:p>
          <a:p>
            <a:pPr algn="ctr"/>
            <a:endParaRPr lang="en-US" dirty="0"/>
          </a:p>
        </p:txBody>
      </p:sp>
      <p:sp>
        <p:nvSpPr>
          <p:cNvPr id="8" name="Rectángulo 7">
            <a:extLst>
              <a:ext uri="{FF2B5EF4-FFF2-40B4-BE49-F238E27FC236}">
                <a16:creationId xmlns:a16="http://schemas.microsoft.com/office/drawing/2014/main" id="{BAAAC818-8C43-CF5D-4DB7-21D1E6A0DEED}"/>
              </a:ext>
            </a:extLst>
          </p:cNvPr>
          <p:cNvSpPr/>
          <p:nvPr/>
        </p:nvSpPr>
        <p:spPr>
          <a:xfrm>
            <a:off x="5562600" y="1420406"/>
            <a:ext cx="6246813"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2E0254F2-3F36-2B82-F469-33464298D91B}"/>
              </a:ext>
            </a:extLst>
          </p:cNvPr>
          <p:cNvSpPr txBox="1"/>
          <p:nvPr/>
        </p:nvSpPr>
        <p:spPr>
          <a:xfrm>
            <a:off x="7644330" y="2496339"/>
            <a:ext cx="2997616" cy="369332"/>
          </a:xfrm>
          <a:prstGeom prst="rect">
            <a:avLst/>
          </a:prstGeom>
          <a:noFill/>
        </p:spPr>
        <p:txBody>
          <a:bodyPr wrap="none" rtlCol="0">
            <a:spAutoFit/>
          </a:bodyPr>
          <a:lstStyle/>
          <a:p>
            <a:pPr algn="ctr"/>
            <a:r>
              <a:rPr lang="es-ES" dirty="0" err="1"/>
              <a:t>Component</a:t>
            </a:r>
            <a:r>
              <a:rPr lang="es-ES" dirty="0"/>
              <a:t> as </a:t>
            </a:r>
            <a:r>
              <a:rPr lang="es-ES" dirty="0" err="1"/>
              <a:t>cell</a:t>
            </a:r>
            <a:r>
              <a:rPr lang="es-ES" dirty="0"/>
              <a:t> </a:t>
            </a:r>
            <a:r>
              <a:rPr lang="es-ES" dirty="0" err="1"/>
              <a:t>screenshot</a:t>
            </a:r>
            <a:endParaRPr lang="en-US" dirty="0"/>
          </a:p>
        </p:txBody>
      </p:sp>
      <p:sp>
        <p:nvSpPr>
          <p:cNvPr id="12" name="CuadroTexto 11">
            <a:extLst>
              <a:ext uri="{FF2B5EF4-FFF2-40B4-BE49-F238E27FC236}">
                <a16:creationId xmlns:a16="http://schemas.microsoft.com/office/drawing/2014/main" id="{5F1AAA4C-AA9B-188D-4FB2-C9BC771E0316}"/>
              </a:ext>
            </a:extLst>
          </p:cNvPr>
          <p:cNvSpPr txBox="1"/>
          <p:nvPr/>
        </p:nvSpPr>
        <p:spPr>
          <a:xfrm>
            <a:off x="5715579" y="5262909"/>
            <a:ext cx="6030616" cy="830997"/>
          </a:xfrm>
          <a:prstGeom prst="rect">
            <a:avLst/>
          </a:prstGeom>
          <a:noFill/>
        </p:spPr>
        <p:txBody>
          <a:bodyPr wrap="square" rtlCol="0">
            <a:spAutoFit/>
          </a:bodyPr>
          <a:lstStyle/>
          <a:p>
            <a:r>
              <a:rPr kumimoji="0" lang="es-E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El acoplador direccional diseñado en el Lab2 se ha convertido en una celda reutilizable mediante el decorador @gf.cell. Esto permite instanciar el componente </a:t>
            </a:r>
            <a:r>
              <a:rPr kumimoji="0" lang="es-ES" sz="12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multiple</a:t>
            </a:r>
            <a:r>
              <a:rPr kumimoji="0" lang="es-E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veces dentro del </a:t>
            </a:r>
            <a:r>
              <a:rPr kumimoji="0" lang="es-ES" sz="12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layout</a:t>
            </a:r>
            <a:r>
              <a:rPr kumimoji="0" lang="es-E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sin duplicar geometría. La celda mantiene los cuatro puertos ópticos necesarios para su interconexión con otros dispositivos.</a:t>
            </a:r>
            <a:endParaRPr lang="es-ES" noProof="0" dirty="0"/>
          </a:p>
        </p:txBody>
      </p:sp>
      <p:pic>
        <p:nvPicPr>
          <p:cNvPr id="5" name="Imagen 4">
            <a:extLst>
              <a:ext uri="{FF2B5EF4-FFF2-40B4-BE49-F238E27FC236}">
                <a16:creationId xmlns:a16="http://schemas.microsoft.com/office/drawing/2014/main" id="{78D96783-D89B-0012-BF46-E524E0B4E99D}"/>
              </a:ext>
            </a:extLst>
          </p:cNvPr>
          <p:cNvPicPr>
            <a:picLocks noChangeAspect="1"/>
          </p:cNvPicPr>
          <p:nvPr/>
        </p:nvPicPr>
        <p:blipFill>
          <a:blip r:embed="rId4"/>
          <a:stretch>
            <a:fillRect/>
          </a:stretch>
        </p:blipFill>
        <p:spPr>
          <a:xfrm>
            <a:off x="1550054" y="1438299"/>
            <a:ext cx="2159111" cy="4711942"/>
          </a:xfrm>
          <a:prstGeom prst="rect">
            <a:avLst/>
          </a:prstGeom>
        </p:spPr>
      </p:pic>
      <p:pic>
        <p:nvPicPr>
          <p:cNvPr id="13" name="Imagen 12">
            <a:extLst>
              <a:ext uri="{FF2B5EF4-FFF2-40B4-BE49-F238E27FC236}">
                <a16:creationId xmlns:a16="http://schemas.microsoft.com/office/drawing/2014/main" id="{83F45BC9-A740-C08C-2A47-BA71B3AC6487}"/>
              </a:ext>
            </a:extLst>
          </p:cNvPr>
          <p:cNvPicPr>
            <a:picLocks noChangeAspect="1"/>
          </p:cNvPicPr>
          <p:nvPr/>
        </p:nvPicPr>
        <p:blipFill>
          <a:blip r:embed="rId5"/>
          <a:stretch>
            <a:fillRect/>
          </a:stretch>
        </p:blipFill>
        <p:spPr>
          <a:xfrm>
            <a:off x="6216778" y="1466397"/>
            <a:ext cx="4938455" cy="3728049"/>
          </a:xfrm>
          <a:prstGeom prst="rect">
            <a:avLst/>
          </a:prstGeom>
        </p:spPr>
      </p:pic>
    </p:spTree>
    <p:extLst>
      <p:ext uri="{BB962C8B-B14F-4D97-AF65-F5344CB8AC3E}">
        <p14:creationId xmlns:p14="http://schemas.microsoft.com/office/powerpoint/2010/main" val="15040021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379CC-EB48-FE08-FDE6-9FE6AB6A6913}"/>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11C6220-FA0D-7A2B-836B-BB539AE7D724}"/>
              </a:ext>
            </a:extLst>
          </p:cNvPr>
          <p:cNvSpPr txBox="1">
            <a:spLocks noGrp="1"/>
          </p:cNvSpPr>
          <p:nvPr>
            <p:ph type="title"/>
          </p:nvPr>
        </p:nvSpPr>
        <p:spPr>
          <a:xfrm>
            <a:off x="685800" y="408883"/>
            <a:ext cx="10994410" cy="874598"/>
          </a:xfrm>
          <a:prstGeom prst="rect">
            <a:avLst/>
          </a:prstGeom>
        </p:spPr>
        <p:txBody>
          <a:bodyPr vert="horz" wrap="square" lIns="0" tIns="12700" rIns="0" bIns="0" rtlCol="0">
            <a:spAutoFit/>
          </a:bodyPr>
          <a:lstStyle/>
          <a:p>
            <a:pPr marL="12700" algn="l">
              <a:lnSpc>
                <a:spcPct val="100000"/>
              </a:lnSpc>
              <a:spcBef>
                <a:spcPts val="100"/>
              </a:spcBef>
            </a:pPr>
            <a:r>
              <a:rPr lang="en-US" dirty="0"/>
              <a:t>Learning outcome #2a – Notebook section 2. Layout Fundamentals – </a:t>
            </a:r>
            <a:r>
              <a:rPr lang="en-US" dirty="0">
                <a:solidFill>
                  <a:srgbClr val="FF0000"/>
                </a:solidFill>
              </a:rPr>
              <a:t>MMIs</a:t>
            </a:r>
            <a:br>
              <a:rPr lang="en-US" sz="2500" dirty="0"/>
            </a:br>
            <a:r>
              <a:rPr lang="en-US" sz="1800" b="0" i="1" dirty="0"/>
              <a:t>“Use your design results from Lab2 and Lab3 to create layout instances of your designed components: DCs, MMIs, MZIs &amp; Ring Resonators” </a:t>
            </a:r>
            <a:r>
              <a:rPr lang="en-US" sz="1800" b="0" i="1" dirty="0">
                <a:solidFill>
                  <a:srgbClr val="FF0000"/>
                </a:solidFill>
                <a:sym typeface="Wingdings" pitchFamily="2" charset="2"/>
              </a:rPr>
              <a:t> Make cells for all your components</a:t>
            </a:r>
            <a:endParaRPr sz="2500" b="0" i="1" dirty="0">
              <a:solidFill>
                <a:srgbClr val="FF0000"/>
              </a:solidFill>
              <a:latin typeface="+mj-lt"/>
              <a:cs typeface="Lucida Sans"/>
            </a:endParaRPr>
          </a:p>
        </p:txBody>
      </p:sp>
      <p:pic>
        <p:nvPicPr>
          <p:cNvPr id="83" name="Gráfico 82">
            <a:extLst>
              <a:ext uri="{FF2B5EF4-FFF2-40B4-BE49-F238E27FC236}">
                <a16:creationId xmlns:a16="http://schemas.microsoft.com/office/drawing/2014/main" id="{65E5DF84-CBC3-C7E2-AA1F-AACB0D1B47E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D71AC1ED-2909-B5E5-9CEA-F7D5056F00A3}"/>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3" name="Marcador de pie de página 2">
            <a:extLst>
              <a:ext uri="{FF2B5EF4-FFF2-40B4-BE49-F238E27FC236}">
                <a16:creationId xmlns:a16="http://schemas.microsoft.com/office/drawing/2014/main" id="{9BE0BB74-D1FA-26B2-5298-5618BD4B031A}"/>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6" name="Rectángulo 5">
            <a:extLst>
              <a:ext uri="{FF2B5EF4-FFF2-40B4-BE49-F238E27FC236}">
                <a16:creationId xmlns:a16="http://schemas.microsoft.com/office/drawing/2014/main" id="{93971CB0-66AD-2972-F178-F488F5CF5D91}"/>
              </a:ext>
            </a:extLst>
          </p:cNvPr>
          <p:cNvSpPr/>
          <p:nvPr/>
        </p:nvSpPr>
        <p:spPr>
          <a:xfrm>
            <a:off x="609441" y="1418373"/>
            <a:ext cx="488994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52E4B864-780D-0453-861D-B516A5B91B62}"/>
              </a:ext>
            </a:extLst>
          </p:cNvPr>
          <p:cNvSpPr txBox="1"/>
          <p:nvPr/>
        </p:nvSpPr>
        <p:spPr>
          <a:xfrm>
            <a:off x="2063316" y="2494306"/>
            <a:ext cx="2424831" cy="646331"/>
          </a:xfrm>
          <a:prstGeom prst="rect">
            <a:avLst/>
          </a:prstGeom>
          <a:noFill/>
        </p:spPr>
        <p:txBody>
          <a:bodyPr wrap="none" rtlCol="0">
            <a:spAutoFit/>
          </a:bodyPr>
          <a:lstStyle/>
          <a:p>
            <a:pPr algn="ctr"/>
            <a:r>
              <a:rPr lang="en-US" dirty="0"/>
              <a:t>Component as cell code</a:t>
            </a:r>
          </a:p>
          <a:p>
            <a:pPr algn="ctr"/>
            <a:endParaRPr lang="en-US" dirty="0"/>
          </a:p>
        </p:txBody>
      </p:sp>
      <p:sp>
        <p:nvSpPr>
          <p:cNvPr id="8" name="Rectángulo 7">
            <a:extLst>
              <a:ext uri="{FF2B5EF4-FFF2-40B4-BE49-F238E27FC236}">
                <a16:creationId xmlns:a16="http://schemas.microsoft.com/office/drawing/2014/main" id="{23218235-3E5C-F269-D7F1-8D77810362A9}"/>
              </a:ext>
            </a:extLst>
          </p:cNvPr>
          <p:cNvSpPr/>
          <p:nvPr/>
        </p:nvSpPr>
        <p:spPr>
          <a:xfrm>
            <a:off x="5562600" y="1420406"/>
            <a:ext cx="6246813"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B78ACCF7-290E-F6C1-F16B-2FD254CF8385}"/>
              </a:ext>
            </a:extLst>
          </p:cNvPr>
          <p:cNvSpPr txBox="1"/>
          <p:nvPr/>
        </p:nvSpPr>
        <p:spPr>
          <a:xfrm>
            <a:off x="7644330" y="2496339"/>
            <a:ext cx="2997616" cy="369332"/>
          </a:xfrm>
          <a:prstGeom prst="rect">
            <a:avLst/>
          </a:prstGeom>
          <a:noFill/>
        </p:spPr>
        <p:txBody>
          <a:bodyPr wrap="none" rtlCol="0">
            <a:spAutoFit/>
          </a:bodyPr>
          <a:lstStyle/>
          <a:p>
            <a:pPr algn="ctr"/>
            <a:r>
              <a:rPr lang="es-ES" dirty="0" err="1"/>
              <a:t>Component</a:t>
            </a:r>
            <a:r>
              <a:rPr lang="es-ES" dirty="0"/>
              <a:t> as </a:t>
            </a:r>
            <a:r>
              <a:rPr lang="es-ES" dirty="0" err="1"/>
              <a:t>cell</a:t>
            </a:r>
            <a:r>
              <a:rPr lang="es-ES" dirty="0"/>
              <a:t> </a:t>
            </a:r>
            <a:r>
              <a:rPr lang="es-ES" dirty="0" err="1"/>
              <a:t>screenshot</a:t>
            </a:r>
            <a:endParaRPr lang="en-US" dirty="0"/>
          </a:p>
        </p:txBody>
      </p:sp>
      <p:sp>
        <p:nvSpPr>
          <p:cNvPr id="12" name="CuadroTexto 11">
            <a:extLst>
              <a:ext uri="{FF2B5EF4-FFF2-40B4-BE49-F238E27FC236}">
                <a16:creationId xmlns:a16="http://schemas.microsoft.com/office/drawing/2014/main" id="{58F54AFD-8162-E702-4494-DD41920E4D49}"/>
              </a:ext>
            </a:extLst>
          </p:cNvPr>
          <p:cNvSpPr txBox="1"/>
          <p:nvPr/>
        </p:nvSpPr>
        <p:spPr>
          <a:xfrm>
            <a:off x="5715579" y="5262909"/>
            <a:ext cx="6030616" cy="646331"/>
          </a:xfrm>
          <a:prstGeom prst="rect">
            <a:avLst/>
          </a:prstGeom>
          <a:noFill/>
        </p:spPr>
        <p:txBody>
          <a:bodyPr wrap="square" rtlCol="0">
            <a:spAutoFit/>
          </a:bodyPr>
          <a:lstStyle/>
          <a:p>
            <a:r>
              <a:rPr lang="es-ES" sz="1200" dirty="0">
                <a:solidFill>
                  <a:prstClr val="black"/>
                </a:solidFill>
                <a:latin typeface="Arial" panose="020B0604020202020204" pitchFamily="34" charset="0"/>
                <a:cs typeface="Arial" panose="020B0604020202020204" pitchFamily="34" charset="0"/>
              </a:rPr>
              <a:t>El MMI 2x2 optimizado en el Lab2 se encapsula en una celda para facilitar su reutilización en diseños de mayor complejidad. Los puertos de entrada y salida se exportan para permitir su conexión mediante las funciones de </a:t>
            </a:r>
            <a:r>
              <a:rPr lang="es-ES" sz="1200" dirty="0" err="1">
                <a:solidFill>
                  <a:prstClr val="black"/>
                </a:solidFill>
                <a:latin typeface="Arial" panose="020B0604020202020204" pitchFamily="34" charset="0"/>
                <a:cs typeface="Arial" panose="020B0604020202020204" pitchFamily="34" charset="0"/>
              </a:rPr>
              <a:t>routing</a:t>
            </a:r>
            <a:r>
              <a:rPr lang="es-ES" sz="1200" dirty="0">
                <a:solidFill>
                  <a:prstClr val="black"/>
                </a:solidFill>
                <a:latin typeface="Arial" panose="020B0604020202020204" pitchFamily="34" charset="0"/>
                <a:cs typeface="Arial" panose="020B0604020202020204" pitchFamily="34" charset="0"/>
              </a:rPr>
              <a:t> de </a:t>
            </a:r>
            <a:r>
              <a:rPr lang="es-ES" sz="1200" dirty="0" err="1">
                <a:solidFill>
                  <a:prstClr val="black"/>
                </a:solidFill>
                <a:latin typeface="Arial" panose="020B0604020202020204" pitchFamily="34" charset="0"/>
                <a:cs typeface="Arial" panose="020B0604020202020204" pitchFamily="34" charset="0"/>
              </a:rPr>
              <a:t>GDSFactory</a:t>
            </a:r>
            <a:r>
              <a:rPr lang="es-ES" sz="1200" dirty="0">
                <a:solidFill>
                  <a:prstClr val="black"/>
                </a:solidFill>
                <a:latin typeface="Arial" panose="020B0604020202020204" pitchFamily="34" charset="0"/>
                <a:cs typeface="Arial" panose="020B0604020202020204" pitchFamily="34" charset="0"/>
              </a:rPr>
              <a:t>.</a:t>
            </a:r>
            <a:endParaRPr lang="es-ES" dirty="0"/>
          </a:p>
        </p:txBody>
      </p:sp>
      <p:pic>
        <p:nvPicPr>
          <p:cNvPr id="4" name="Imagen 3">
            <a:extLst>
              <a:ext uri="{FF2B5EF4-FFF2-40B4-BE49-F238E27FC236}">
                <a16:creationId xmlns:a16="http://schemas.microsoft.com/office/drawing/2014/main" id="{59D96D13-ADF7-A13D-DA27-0B53FD12C949}"/>
              </a:ext>
            </a:extLst>
          </p:cNvPr>
          <p:cNvPicPr>
            <a:picLocks noChangeAspect="1"/>
          </p:cNvPicPr>
          <p:nvPr/>
        </p:nvPicPr>
        <p:blipFill>
          <a:blip r:embed="rId4"/>
          <a:stretch>
            <a:fillRect/>
          </a:stretch>
        </p:blipFill>
        <p:spPr>
          <a:xfrm>
            <a:off x="723075" y="1504977"/>
            <a:ext cx="2235315" cy="4578585"/>
          </a:xfrm>
          <a:prstGeom prst="rect">
            <a:avLst/>
          </a:prstGeom>
        </p:spPr>
      </p:pic>
      <p:pic>
        <p:nvPicPr>
          <p:cNvPr id="10" name="Imagen 9">
            <a:extLst>
              <a:ext uri="{FF2B5EF4-FFF2-40B4-BE49-F238E27FC236}">
                <a16:creationId xmlns:a16="http://schemas.microsoft.com/office/drawing/2014/main" id="{9BF244CD-3AA7-A4D9-F076-FF08266EF500}"/>
              </a:ext>
            </a:extLst>
          </p:cNvPr>
          <p:cNvPicPr>
            <a:picLocks noChangeAspect="1"/>
          </p:cNvPicPr>
          <p:nvPr/>
        </p:nvPicPr>
        <p:blipFill>
          <a:blip r:embed="rId5"/>
          <a:stretch>
            <a:fillRect/>
          </a:stretch>
        </p:blipFill>
        <p:spPr>
          <a:xfrm>
            <a:off x="2913862" y="1777915"/>
            <a:ext cx="2381372" cy="3302170"/>
          </a:xfrm>
          <a:prstGeom prst="rect">
            <a:avLst/>
          </a:prstGeom>
        </p:spPr>
      </p:pic>
      <p:pic>
        <p:nvPicPr>
          <p:cNvPr id="14" name="Imagen 13">
            <a:extLst>
              <a:ext uri="{FF2B5EF4-FFF2-40B4-BE49-F238E27FC236}">
                <a16:creationId xmlns:a16="http://schemas.microsoft.com/office/drawing/2014/main" id="{B55CD220-8138-830F-DE12-300B6DA3EF11}"/>
              </a:ext>
            </a:extLst>
          </p:cNvPr>
          <p:cNvPicPr>
            <a:picLocks noChangeAspect="1"/>
          </p:cNvPicPr>
          <p:nvPr/>
        </p:nvPicPr>
        <p:blipFill>
          <a:blip r:embed="rId6"/>
          <a:stretch>
            <a:fillRect/>
          </a:stretch>
        </p:blipFill>
        <p:spPr>
          <a:xfrm>
            <a:off x="6283246" y="1489221"/>
            <a:ext cx="4895282" cy="3695458"/>
          </a:xfrm>
          <a:prstGeom prst="rect">
            <a:avLst/>
          </a:prstGeom>
        </p:spPr>
      </p:pic>
    </p:spTree>
    <p:extLst>
      <p:ext uri="{BB962C8B-B14F-4D97-AF65-F5344CB8AC3E}">
        <p14:creationId xmlns:p14="http://schemas.microsoft.com/office/powerpoint/2010/main" val="32570927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DB022-80A1-3E53-1E6E-2819FAA2C873}"/>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8882E84F-B66A-D8B2-D7CF-8A3DD832EBF8}"/>
              </a:ext>
            </a:extLst>
          </p:cNvPr>
          <p:cNvSpPr txBox="1">
            <a:spLocks noGrp="1"/>
          </p:cNvSpPr>
          <p:nvPr>
            <p:ph type="title"/>
          </p:nvPr>
        </p:nvSpPr>
        <p:spPr>
          <a:xfrm>
            <a:off x="685800" y="408883"/>
            <a:ext cx="10994410" cy="874598"/>
          </a:xfrm>
          <a:prstGeom prst="rect">
            <a:avLst/>
          </a:prstGeom>
        </p:spPr>
        <p:txBody>
          <a:bodyPr vert="horz" wrap="square" lIns="0" tIns="12700" rIns="0" bIns="0" rtlCol="0">
            <a:spAutoFit/>
          </a:bodyPr>
          <a:lstStyle/>
          <a:p>
            <a:pPr marL="12700" algn="l">
              <a:lnSpc>
                <a:spcPct val="100000"/>
              </a:lnSpc>
              <a:spcBef>
                <a:spcPts val="100"/>
              </a:spcBef>
            </a:pPr>
            <a:r>
              <a:rPr lang="en-US" dirty="0"/>
              <a:t>Learning outcome #2a – Notebook section 2. Layout Fundamentals – </a:t>
            </a:r>
            <a:r>
              <a:rPr lang="en-US" dirty="0">
                <a:solidFill>
                  <a:srgbClr val="FF0000"/>
                </a:solidFill>
              </a:rPr>
              <a:t>MZI</a:t>
            </a:r>
            <a:br>
              <a:rPr lang="en-US" sz="2500" dirty="0"/>
            </a:br>
            <a:r>
              <a:rPr lang="en-US" sz="1800" b="0" i="1" dirty="0"/>
              <a:t>“Use your design results from Lab2 and Lab3 to create layout instances of your designed components: DCs, MMIs, MZIs &amp; Ring Resonators” </a:t>
            </a:r>
            <a:r>
              <a:rPr lang="en-US" sz="1800" b="0" i="1" dirty="0">
                <a:solidFill>
                  <a:srgbClr val="FF0000"/>
                </a:solidFill>
                <a:sym typeface="Wingdings" pitchFamily="2" charset="2"/>
              </a:rPr>
              <a:t> Make cells for all your components</a:t>
            </a:r>
            <a:endParaRPr sz="2500" b="0" i="1" dirty="0">
              <a:solidFill>
                <a:srgbClr val="FF0000"/>
              </a:solidFill>
              <a:latin typeface="+mj-lt"/>
              <a:cs typeface="Lucida Sans"/>
            </a:endParaRPr>
          </a:p>
        </p:txBody>
      </p:sp>
      <p:pic>
        <p:nvPicPr>
          <p:cNvPr id="83" name="Gráfico 82">
            <a:extLst>
              <a:ext uri="{FF2B5EF4-FFF2-40B4-BE49-F238E27FC236}">
                <a16:creationId xmlns:a16="http://schemas.microsoft.com/office/drawing/2014/main" id="{BB9F1C7B-1635-C888-0D7D-4E2190FF4A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CC13503-6B05-4201-F9BF-2D5AEA0F93C9}"/>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3" name="Marcador de pie de página 2">
            <a:extLst>
              <a:ext uri="{FF2B5EF4-FFF2-40B4-BE49-F238E27FC236}">
                <a16:creationId xmlns:a16="http://schemas.microsoft.com/office/drawing/2014/main" id="{DC54C75F-BBAD-0E46-459F-ECC1B7A61C51}"/>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6" name="Rectángulo 5">
            <a:extLst>
              <a:ext uri="{FF2B5EF4-FFF2-40B4-BE49-F238E27FC236}">
                <a16:creationId xmlns:a16="http://schemas.microsoft.com/office/drawing/2014/main" id="{C940766C-E561-0F07-FF4F-EE97C1EF3D3D}"/>
              </a:ext>
            </a:extLst>
          </p:cNvPr>
          <p:cNvSpPr/>
          <p:nvPr/>
        </p:nvSpPr>
        <p:spPr>
          <a:xfrm>
            <a:off x="304801" y="1418373"/>
            <a:ext cx="5161014"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14F6C2A3-24AA-CD10-1A8F-048E2AF5D310}"/>
              </a:ext>
            </a:extLst>
          </p:cNvPr>
          <p:cNvSpPr txBox="1"/>
          <p:nvPr/>
        </p:nvSpPr>
        <p:spPr>
          <a:xfrm>
            <a:off x="2063316" y="2494306"/>
            <a:ext cx="2424831" cy="646331"/>
          </a:xfrm>
          <a:prstGeom prst="rect">
            <a:avLst/>
          </a:prstGeom>
          <a:noFill/>
        </p:spPr>
        <p:txBody>
          <a:bodyPr wrap="none" rtlCol="0">
            <a:spAutoFit/>
          </a:bodyPr>
          <a:lstStyle/>
          <a:p>
            <a:pPr algn="ctr"/>
            <a:r>
              <a:rPr lang="en-US" dirty="0"/>
              <a:t>Component as cell code</a:t>
            </a:r>
          </a:p>
          <a:p>
            <a:pPr algn="ctr"/>
            <a:endParaRPr lang="en-US" dirty="0"/>
          </a:p>
        </p:txBody>
      </p:sp>
      <p:sp>
        <p:nvSpPr>
          <p:cNvPr id="8" name="Rectángulo 7">
            <a:extLst>
              <a:ext uri="{FF2B5EF4-FFF2-40B4-BE49-F238E27FC236}">
                <a16:creationId xmlns:a16="http://schemas.microsoft.com/office/drawing/2014/main" id="{464578FE-6169-FB65-009C-34EEED6B17A9}"/>
              </a:ext>
            </a:extLst>
          </p:cNvPr>
          <p:cNvSpPr/>
          <p:nvPr/>
        </p:nvSpPr>
        <p:spPr>
          <a:xfrm>
            <a:off x="5562600" y="1420406"/>
            <a:ext cx="6246813"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A38AB317-BB78-E107-8372-4A657C198931}"/>
              </a:ext>
            </a:extLst>
          </p:cNvPr>
          <p:cNvSpPr txBox="1"/>
          <p:nvPr/>
        </p:nvSpPr>
        <p:spPr>
          <a:xfrm>
            <a:off x="7644330" y="2496339"/>
            <a:ext cx="2997616" cy="369332"/>
          </a:xfrm>
          <a:prstGeom prst="rect">
            <a:avLst/>
          </a:prstGeom>
          <a:noFill/>
        </p:spPr>
        <p:txBody>
          <a:bodyPr wrap="none" rtlCol="0">
            <a:spAutoFit/>
          </a:bodyPr>
          <a:lstStyle/>
          <a:p>
            <a:pPr algn="ctr"/>
            <a:r>
              <a:rPr lang="es-ES" dirty="0" err="1"/>
              <a:t>Component</a:t>
            </a:r>
            <a:r>
              <a:rPr lang="es-ES" dirty="0"/>
              <a:t> as </a:t>
            </a:r>
            <a:r>
              <a:rPr lang="es-ES" dirty="0" err="1"/>
              <a:t>cell</a:t>
            </a:r>
            <a:r>
              <a:rPr lang="es-ES" dirty="0"/>
              <a:t> </a:t>
            </a:r>
            <a:r>
              <a:rPr lang="es-ES" dirty="0" err="1"/>
              <a:t>screenshot</a:t>
            </a:r>
            <a:endParaRPr lang="en-US" dirty="0"/>
          </a:p>
        </p:txBody>
      </p:sp>
      <p:sp>
        <p:nvSpPr>
          <p:cNvPr id="12" name="CuadroTexto 11">
            <a:extLst>
              <a:ext uri="{FF2B5EF4-FFF2-40B4-BE49-F238E27FC236}">
                <a16:creationId xmlns:a16="http://schemas.microsoft.com/office/drawing/2014/main" id="{0BD5B91A-1C4A-0536-16D1-50D989659CE5}"/>
              </a:ext>
            </a:extLst>
          </p:cNvPr>
          <p:cNvSpPr txBox="1"/>
          <p:nvPr/>
        </p:nvSpPr>
        <p:spPr>
          <a:xfrm>
            <a:off x="5682012" y="5339524"/>
            <a:ext cx="6030616" cy="646331"/>
          </a:xfrm>
          <a:prstGeom prst="rect">
            <a:avLst/>
          </a:prstGeom>
          <a:noFill/>
        </p:spPr>
        <p:txBody>
          <a:bodyPr wrap="square" rtlCol="0">
            <a:spAutoFit/>
          </a:bodyPr>
          <a:lstStyle/>
          <a:p>
            <a:r>
              <a:rPr lang="es-ES" sz="1200" dirty="0">
                <a:solidFill>
                  <a:prstClr val="black"/>
                </a:solidFill>
                <a:latin typeface="Arial" panose="020B0604020202020204" pitchFamily="34" charset="0"/>
                <a:cs typeface="Arial" panose="020B0604020202020204" pitchFamily="34" charset="0"/>
              </a:rPr>
              <a:t>Se crea una celda parametrizable para el interferómetro Mach-Zehnder. La diferencia de longitud entre brazos (ΔL) se introduce como parámetro, permitiendo generar distintas versiones del dispositivo sin modificar el código interno.</a:t>
            </a:r>
            <a:endParaRPr lang="es-ES" dirty="0"/>
          </a:p>
        </p:txBody>
      </p:sp>
      <p:pic>
        <p:nvPicPr>
          <p:cNvPr id="15" name="Imagen 14">
            <a:extLst>
              <a:ext uri="{FF2B5EF4-FFF2-40B4-BE49-F238E27FC236}">
                <a16:creationId xmlns:a16="http://schemas.microsoft.com/office/drawing/2014/main" id="{CB88B11C-D9AE-7779-49B1-7B6F1B035E73}"/>
              </a:ext>
            </a:extLst>
          </p:cNvPr>
          <p:cNvPicPr>
            <a:picLocks noChangeAspect="1"/>
          </p:cNvPicPr>
          <p:nvPr/>
        </p:nvPicPr>
        <p:blipFill>
          <a:blip r:embed="rId4"/>
          <a:stretch>
            <a:fillRect/>
          </a:stretch>
        </p:blipFill>
        <p:spPr>
          <a:xfrm>
            <a:off x="6211079" y="1546974"/>
            <a:ext cx="4986147" cy="3764052"/>
          </a:xfrm>
          <a:prstGeom prst="rect">
            <a:avLst/>
          </a:prstGeom>
        </p:spPr>
      </p:pic>
      <p:pic>
        <p:nvPicPr>
          <p:cNvPr id="18" name="Imagen 17">
            <a:extLst>
              <a:ext uri="{FF2B5EF4-FFF2-40B4-BE49-F238E27FC236}">
                <a16:creationId xmlns:a16="http://schemas.microsoft.com/office/drawing/2014/main" id="{E3721688-4DD3-A8F2-3714-61CB61D80F6E}"/>
              </a:ext>
            </a:extLst>
          </p:cNvPr>
          <p:cNvPicPr>
            <a:picLocks noChangeAspect="1"/>
          </p:cNvPicPr>
          <p:nvPr/>
        </p:nvPicPr>
        <p:blipFill>
          <a:blip r:embed="rId5"/>
          <a:stretch>
            <a:fillRect/>
          </a:stretch>
        </p:blipFill>
        <p:spPr>
          <a:xfrm>
            <a:off x="382587" y="1667307"/>
            <a:ext cx="3035701" cy="4318548"/>
          </a:xfrm>
          <a:prstGeom prst="rect">
            <a:avLst/>
          </a:prstGeom>
        </p:spPr>
      </p:pic>
      <p:pic>
        <p:nvPicPr>
          <p:cNvPr id="20" name="Imagen 19">
            <a:extLst>
              <a:ext uri="{FF2B5EF4-FFF2-40B4-BE49-F238E27FC236}">
                <a16:creationId xmlns:a16="http://schemas.microsoft.com/office/drawing/2014/main" id="{B72AC455-5DC2-B6EB-EBCD-FA7C078DEA18}"/>
              </a:ext>
            </a:extLst>
          </p:cNvPr>
          <p:cNvPicPr>
            <a:picLocks noChangeAspect="1"/>
          </p:cNvPicPr>
          <p:nvPr/>
        </p:nvPicPr>
        <p:blipFill>
          <a:blip r:embed="rId6"/>
          <a:stretch>
            <a:fillRect/>
          </a:stretch>
        </p:blipFill>
        <p:spPr>
          <a:xfrm>
            <a:off x="3401959" y="1784951"/>
            <a:ext cx="2024931" cy="4006249"/>
          </a:xfrm>
          <a:prstGeom prst="rect">
            <a:avLst/>
          </a:prstGeom>
        </p:spPr>
      </p:pic>
    </p:spTree>
    <p:extLst>
      <p:ext uri="{BB962C8B-B14F-4D97-AF65-F5344CB8AC3E}">
        <p14:creationId xmlns:p14="http://schemas.microsoft.com/office/powerpoint/2010/main" val="36175049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727FD-99F6-CF43-0FCD-56C7E0227C7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96C42569-ED2C-7E7C-0F41-3412BAE9668B}"/>
              </a:ext>
            </a:extLst>
          </p:cNvPr>
          <p:cNvSpPr txBox="1">
            <a:spLocks noGrp="1"/>
          </p:cNvSpPr>
          <p:nvPr>
            <p:ph type="title"/>
          </p:nvPr>
        </p:nvSpPr>
        <p:spPr>
          <a:xfrm>
            <a:off x="685800" y="408883"/>
            <a:ext cx="10994410" cy="874598"/>
          </a:xfrm>
          <a:prstGeom prst="rect">
            <a:avLst/>
          </a:prstGeom>
        </p:spPr>
        <p:txBody>
          <a:bodyPr vert="horz" wrap="square" lIns="0" tIns="12700" rIns="0" bIns="0" rtlCol="0">
            <a:spAutoFit/>
          </a:bodyPr>
          <a:lstStyle/>
          <a:p>
            <a:pPr marL="12700" algn="l">
              <a:lnSpc>
                <a:spcPct val="100000"/>
              </a:lnSpc>
              <a:spcBef>
                <a:spcPts val="100"/>
              </a:spcBef>
            </a:pPr>
            <a:r>
              <a:rPr lang="en-US" dirty="0"/>
              <a:t>Learning outcome #2a – Notebook section 2. Layout Fundamentals – </a:t>
            </a:r>
            <a:r>
              <a:rPr lang="en-US" dirty="0">
                <a:solidFill>
                  <a:srgbClr val="FF0000"/>
                </a:solidFill>
              </a:rPr>
              <a:t>Ring Resonator</a:t>
            </a:r>
            <a:br>
              <a:rPr lang="en-US" sz="2500" dirty="0"/>
            </a:br>
            <a:r>
              <a:rPr lang="en-US" sz="1800" b="0" i="1" dirty="0"/>
              <a:t>“Use your design results from Lab2 and Lab3 to create layout instances of your designed components: DCs, MMIs, MZIs &amp; Ring Resonators” </a:t>
            </a:r>
            <a:r>
              <a:rPr lang="en-US" sz="1800" b="0" i="1" dirty="0">
                <a:solidFill>
                  <a:srgbClr val="FF0000"/>
                </a:solidFill>
                <a:sym typeface="Wingdings" pitchFamily="2" charset="2"/>
              </a:rPr>
              <a:t> Make cells for all your components</a:t>
            </a:r>
            <a:endParaRPr sz="2500" b="0" i="1" dirty="0">
              <a:solidFill>
                <a:srgbClr val="FF0000"/>
              </a:solidFill>
              <a:latin typeface="+mj-lt"/>
              <a:cs typeface="Lucida Sans"/>
            </a:endParaRPr>
          </a:p>
        </p:txBody>
      </p:sp>
      <p:pic>
        <p:nvPicPr>
          <p:cNvPr id="83" name="Gráfico 82">
            <a:extLst>
              <a:ext uri="{FF2B5EF4-FFF2-40B4-BE49-F238E27FC236}">
                <a16:creationId xmlns:a16="http://schemas.microsoft.com/office/drawing/2014/main" id="{19F35F67-CA8F-3A34-312E-DFBD98CA398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EDC7C5F-E9FA-048F-A736-3B75BE5D1ACD}"/>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F2051BEA-7CFF-0F37-5C4E-C8653BBE843E}"/>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6" name="Rectángulo 5">
            <a:extLst>
              <a:ext uri="{FF2B5EF4-FFF2-40B4-BE49-F238E27FC236}">
                <a16:creationId xmlns:a16="http://schemas.microsoft.com/office/drawing/2014/main" id="{59EA28F2-FECF-BB36-AFFD-DEED8D308E51}"/>
              </a:ext>
            </a:extLst>
          </p:cNvPr>
          <p:cNvSpPr/>
          <p:nvPr/>
        </p:nvSpPr>
        <p:spPr>
          <a:xfrm>
            <a:off x="609441" y="1418373"/>
            <a:ext cx="4572159"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14A12A76-1345-CF5D-4FB9-C691BB31D5AE}"/>
              </a:ext>
            </a:extLst>
          </p:cNvPr>
          <p:cNvSpPr txBox="1"/>
          <p:nvPr/>
        </p:nvSpPr>
        <p:spPr>
          <a:xfrm>
            <a:off x="1143000" y="2494306"/>
            <a:ext cx="1066801" cy="1200329"/>
          </a:xfrm>
          <a:prstGeom prst="rect">
            <a:avLst/>
          </a:prstGeom>
          <a:noFill/>
        </p:spPr>
        <p:txBody>
          <a:bodyPr wrap="square" rtlCol="0">
            <a:spAutoFit/>
          </a:bodyPr>
          <a:lstStyle/>
          <a:p>
            <a:pPr algn="ctr"/>
            <a:r>
              <a:rPr lang="en-US" dirty="0"/>
              <a:t>Component as cell code</a:t>
            </a:r>
          </a:p>
          <a:p>
            <a:pPr algn="ctr"/>
            <a:endParaRPr lang="en-US" dirty="0"/>
          </a:p>
        </p:txBody>
      </p:sp>
      <p:sp>
        <p:nvSpPr>
          <p:cNvPr id="8" name="Rectángulo 7">
            <a:extLst>
              <a:ext uri="{FF2B5EF4-FFF2-40B4-BE49-F238E27FC236}">
                <a16:creationId xmlns:a16="http://schemas.microsoft.com/office/drawing/2014/main" id="{EA1D972A-32F5-5923-968C-D7A1D49335FD}"/>
              </a:ext>
            </a:extLst>
          </p:cNvPr>
          <p:cNvSpPr/>
          <p:nvPr/>
        </p:nvSpPr>
        <p:spPr>
          <a:xfrm>
            <a:off x="5562600" y="1420406"/>
            <a:ext cx="6246813"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C380D7F7-5D69-F69E-7851-0BF398900355}"/>
              </a:ext>
            </a:extLst>
          </p:cNvPr>
          <p:cNvSpPr txBox="1"/>
          <p:nvPr/>
        </p:nvSpPr>
        <p:spPr>
          <a:xfrm>
            <a:off x="7644330" y="2496339"/>
            <a:ext cx="2997616" cy="369332"/>
          </a:xfrm>
          <a:prstGeom prst="rect">
            <a:avLst/>
          </a:prstGeom>
          <a:noFill/>
        </p:spPr>
        <p:txBody>
          <a:bodyPr wrap="none" rtlCol="0">
            <a:spAutoFit/>
          </a:bodyPr>
          <a:lstStyle/>
          <a:p>
            <a:pPr algn="ctr"/>
            <a:r>
              <a:rPr lang="es-ES" dirty="0" err="1"/>
              <a:t>Component</a:t>
            </a:r>
            <a:r>
              <a:rPr lang="es-ES" dirty="0"/>
              <a:t> as </a:t>
            </a:r>
            <a:r>
              <a:rPr lang="es-ES" dirty="0" err="1"/>
              <a:t>cell</a:t>
            </a:r>
            <a:r>
              <a:rPr lang="es-ES" dirty="0"/>
              <a:t> </a:t>
            </a:r>
            <a:r>
              <a:rPr lang="es-ES" dirty="0" err="1"/>
              <a:t>screenshot</a:t>
            </a:r>
            <a:endParaRPr lang="en-US" dirty="0"/>
          </a:p>
        </p:txBody>
      </p:sp>
      <p:sp>
        <p:nvSpPr>
          <p:cNvPr id="12" name="CuadroTexto 11">
            <a:extLst>
              <a:ext uri="{FF2B5EF4-FFF2-40B4-BE49-F238E27FC236}">
                <a16:creationId xmlns:a16="http://schemas.microsoft.com/office/drawing/2014/main" id="{CE0F44C7-04B4-DB17-BE5B-B619ABBC44DA}"/>
              </a:ext>
            </a:extLst>
          </p:cNvPr>
          <p:cNvSpPr txBox="1"/>
          <p:nvPr/>
        </p:nvSpPr>
        <p:spPr>
          <a:xfrm>
            <a:off x="5715578" y="5352674"/>
            <a:ext cx="6030616" cy="646331"/>
          </a:xfrm>
          <a:prstGeom prst="rect">
            <a:avLst/>
          </a:prstGeom>
          <a:noFill/>
        </p:spPr>
        <p:txBody>
          <a:bodyPr wrap="square" rtlCol="0">
            <a:spAutoFit/>
          </a:bodyPr>
          <a:lstStyle/>
          <a:p>
            <a:r>
              <a:rPr lang="es-ES" sz="1200" dirty="0">
                <a:solidFill>
                  <a:prstClr val="black"/>
                </a:solidFill>
                <a:latin typeface="Arial" panose="020B0604020202020204" pitchFamily="34" charset="0"/>
                <a:cs typeface="Arial" panose="020B0604020202020204" pitchFamily="34" charset="0"/>
              </a:rPr>
              <a:t>El resonador en anillo se implementa como una celda parametrizable mediante el radio del anillo. Debido a las restricciones del PDK utilizado, se emplea un radio mínimo de 35 µm para cumplir las reglas de diseño de la tecnología.</a:t>
            </a:r>
            <a:endParaRPr lang="es-ES" dirty="0"/>
          </a:p>
        </p:txBody>
      </p:sp>
      <p:pic>
        <p:nvPicPr>
          <p:cNvPr id="4" name="Imagen 3">
            <a:extLst>
              <a:ext uri="{FF2B5EF4-FFF2-40B4-BE49-F238E27FC236}">
                <a16:creationId xmlns:a16="http://schemas.microsoft.com/office/drawing/2014/main" id="{C22DEB4A-A2D2-099A-8424-A3B286102361}"/>
              </a:ext>
            </a:extLst>
          </p:cNvPr>
          <p:cNvPicPr>
            <a:picLocks noChangeAspect="1"/>
          </p:cNvPicPr>
          <p:nvPr/>
        </p:nvPicPr>
        <p:blipFill>
          <a:blip r:embed="rId4"/>
          <a:stretch>
            <a:fillRect/>
          </a:stretch>
        </p:blipFill>
        <p:spPr>
          <a:xfrm>
            <a:off x="774732" y="1570370"/>
            <a:ext cx="2025802" cy="4585627"/>
          </a:xfrm>
          <a:prstGeom prst="rect">
            <a:avLst/>
          </a:prstGeom>
        </p:spPr>
      </p:pic>
      <p:pic>
        <p:nvPicPr>
          <p:cNvPr id="11" name="Imagen 10">
            <a:extLst>
              <a:ext uri="{FF2B5EF4-FFF2-40B4-BE49-F238E27FC236}">
                <a16:creationId xmlns:a16="http://schemas.microsoft.com/office/drawing/2014/main" id="{00127151-0A18-A9BB-CC8B-E49DDBFB70BF}"/>
              </a:ext>
            </a:extLst>
          </p:cNvPr>
          <p:cNvPicPr>
            <a:picLocks noChangeAspect="1"/>
          </p:cNvPicPr>
          <p:nvPr/>
        </p:nvPicPr>
        <p:blipFill>
          <a:blip r:embed="rId5"/>
          <a:stretch>
            <a:fillRect/>
          </a:stretch>
        </p:blipFill>
        <p:spPr>
          <a:xfrm>
            <a:off x="6199047" y="1512922"/>
            <a:ext cx="5000439" cy="3774841"/>
          </a:xfrm>
          <a:prstGeom prst="rect">
            <a:avLst/>
          </a:prstGeom>
        </p:spPr>
      </p:pic>
      <p:pic>
        <p:nvPicPr>
          <p:cNvPr id="15" name="Imagen 14">
            <a:extLst>
              <a:ext uri="{FF2B5EF4-FFF2-40B4-BE49-F238E27FC236}">
                <a16:creationId xmlns:a16="http://schemas.microsoft.com/office/drawing/2014/main" id="{0950C9C0-F608-ED2A-330A-EB2AD7D59747}"/>
              </a:ext>
            </a:extLst>
          </p:cNvPr>
          <p:cNvPicPr>
            <a:picLocks noChangeAspect="1"/>
          </p:cNvPicPr>
          <p:nvPr/>
        </p:nvPicPr>
        <p:blipFill>
          <a:blip r:embed="rId6"/>
          <a:stretch>
            <a:fillRect/>
          </a:stretch>
        </p:blipFill>
        <p:spPr>
          <a:xfrm>
            <a:off x="3025030" y="1622874"/>
            <a:ext cx="1809843" cy="4349974"/>
          </a:xfrm>
          <a:prstGeom prst="rect">
            <a:avLst/>
          </a:prstGeom>
        </p:spPr>
      </p:pic>
    </p:spTree>
    <p:extLst>
      <p:ext uri="{BB962C8B-B14F-4D97-AF65-F5344CB8AC3E}">
        <p14:creationId xmlns:p14="http://schemas.microsoft.com/office/powerpoint/2010/main" val="2125327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C4868-A280-6C7B-729D-B6721B4843F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58A6732-4154-109E-6DEA-5216831ECAED}"/>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#3 – Notebook section 3. Complete layout</a:t>
            </a:r>
            <a:endParaRPr sz="2500" b="0" i="1" dirty="0">
              <a:latin typeface="+mj-lt"/>
              <a:cs typeface="Lucida Sans"/>
            </a:endParaRPr>
          </a:p>
        </p:txBody>
      </p:sp>
      <p:pic>
        <p:nvPicPr>
          <p:cNvPr id="83" name="Gráfico 82">
            <a:extLst>
              <a:ext uri="{FF2B5EF4-FFF2-40B4-BE49-F238E27FC236}">
                <a16:creationId xmlns:a16="http://schemas.microsoft.com/office/drawing/2014/main" id="{4F72D846-7FB2-4017-E804-A3307FAAD6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C4027762-152A-EBC6-CC80-D740FDA04ED3}"/>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3" name="Marcador de pie de página 2">
            <a:extLst>
              <a:ext uri="{FF2B5EF4-FFF2-40B4-BE49-F238E27FC236}">
                <a16:creationId xmlns:a16="http://schemas.microsoft.com/office/drawing/2014/main" id="{5FE87FF3-9665-7193-927A-C523D90DA620}"/>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9F3924BD-E563-1807-2F7D-B51DD2891F00}"/>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dirty="0">
                <a:latin typeface="Arial" panose="020B0604020202020204" pitchFamily="34" charset="0"/>
                <a:cs typeface="Arial" panose="020B0604020202020204" pitchFamily="34" charset="0"/>
              </a:rPr>
              <a:t>Read and describe 4 code blocks in section 3</a:t>
            </a:r>
          </a:p>
          <a:p>
            <a:pPr algn="just"/>
            <a:endParaRPr lang="en-US" sz="1200" dirty="0">
              <a:latin typeface="Arial" panose="020B0604020202020204" pitchFamily="34" charset="0"/>
              <a:cs typeface="Arial" panose="020B0604020202020204" pitchFamily="34" charset="0"/>
            </a:endParaRPr>
          </a:p>
          <a:p>
            <a:pPr algn="just"/>
            <a:r>
              <a:rPr lang="en-US" sz="1200" u="sng" dirty="0">
                <a:latin typeface="Arial" panose="020B0604020202020204" pitchFamily="34" charset="0"/>
                <a:cs typeface="Arial" panose="020B0604020202020204" pitchFamily="34" charset="0"/>
              </a:rPr>
              <a:t>Python code block 1</a:t>
            </a:r>
            <a:r>
              <a:rPr lang="en-US" sz="1200" dirty="0">
                <a:latin typeface="Arial" panose="020B0604020202020204" pitchFamily="34" charset="0"/>
                <a:cs typeface="Arial" panose="020B0604020202020204" pitchFamily="34" charset="0"/>
              </a:rPr>
              <a:t>: </a:t>
            </a:r>
            <a:r>
              <a:rPr lang="es-ES" sz="1200" dirty="0">
                <a:latin typeface="Arial" panose="020B0604020202020204" pitchFamily="34" charset="0"/>
                <a:cs typeface="Arial" panose="020B0604020202020204" pitchFamily="34" charset="0"/>
              </a:rPr>
              <a:t>Se crea el componente principal del </a:t>
            </a:r>
            <a:r>
              <a:rPr lang="es-ES" sz="1200" dirty="0" err="1">
                <a:latin typeface="Arial" panose="020B0604020202020204" pitchFamily="34" charset="0"/>
                <a:cs typeface="Arial" panose="020B0604020202020204" pitchFamily="34" charset="0"/>
              </a:rPr>
              <a:t>layout</a:t>
            </a:r>
            <a:r>
              <a:rPr lang="es-ES" sz="1200" dirty="0">
                <a:latin typeface="Arial" panose="020B0604020202020204" pitchFamily="34" charset="0"/>
                <a:cs typeface="Arial" panose="020B0604020202020204" pitchFamily="34" charset="0"/>
              </a:rPr>
              <a:t> y se instancia el die que actuará como contenedor de todos los dispositivos fotónicos. A continuación, se inserta un acoplador MMI 1x2 dentro del área del chip utilizando referencias (</a:t>
            </a:r>
            <a:r>
              <a:rPr lang="es-ES" sz="1200" dirty="0" err="1">
                <a:latin typeface="Arial" panose="020B0604020202020204" pitchFamily="34" charset="0"/>
                <a:cs typeface="Arial" panose="020B0604020202020204" pitchFamily="34" charset="0"/>
              </a:rPr>
              <a:t>add_ref</a:t>
            </a:r>
            <a:r>
              <a:rPr lang="es-ES" sz="1200" dirty="0">
                <a:latin typeface="Arial" panose="020B0604020202020204" pitchFamily="34" charset="0"/>
                <a:cs typeface="Arial" panose="020B0604020202020204" pitchFamily="34" charset="0"/>
              </a:rPr>
              <a:t>) y se posiciona mediante desplazamientos en los ejes X e Y.</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sz="1200" u="sng" dirty="0">
                <a:latin typeface="Arial" panose="020B0604020202020204" pitchFamily="34" charset="0"/>
                <a:cs typeface="Arial" panose="020B0604020202020204" pitchFamily="34" charset="0"/>
              </a:rPr>
              <a:t>Python code block 2</a:t>
            </a:r>
            <a:r>
              <a:rPr lang="en-US" sz="1200" dirty="0">
                <a:latin typeface="Arial" panose="020B0604020202020204" pitchFamily="34" charset="0"/>
                <a:cs typeface="Arial" panose="020B0604020202020204" pitchFamily="34" charset="0"/>
              </a:rPr>
              <a:t>: </a:t>
            </a:r>
            <a:r>
              <a:rPr lang="es-ES" sz="1200" dirty="0">
                <a:latin typeface="Arial" panose="020B0604020202020204" pitchFamily="34" charset="0"/>
                <a:cs typeface="Arial" panose="020B0604020202020204" pitchFamily="34" charset="0"/>
              </a:rPr>
              <a:t>Se añaden las guías de entrada y salida del dispositivo. Estas guías rectas se colocan cerca de los bordes del chip para facilitar el acceso óptico desde el exterior. Posteriormente servirán como puntos de conexión entre el circuito y las fibras ópticas.</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sz="1200" u="sng" dirty="0">
                <a:latin typeface="Arial" panose="020B0604020202020204" pitchFamily="34" charset="0"/>
                <a:cs typeface="Arial" panose="020B0604020202020204" pitchFamily="34" charset="0"/>
              </a:rPr>
              <a:t>Python code block 3</a:t>
            </a:r>
            <a:r>
              <a:rPr lang="en-US" sz="1200" dirty="0">
                <a:latin typeface="Arial" panose="020B0604020202020204" pitchFamily="34" charset="0"/>
                <a:cs typeface="Arial" panose="020B0604020202020204" pitchFamily="34" charset="0"/>
              </a:rPr>
              <a:t>: </a:t>
            </a:r>
            <a:r>
              <a:rPr lang="es-ES" sz="1200" dirty="0">
                <a:latin typeface="Arial" panose="020B0604020202020204" pitchFamily="34" charset="0"/>
                <a:cs typeface="Arial" panose="020B0604020202020204" pitchFamily="34" charset="0"/>
              </a:rPr>
              <a:t>Se realiza el enrutado automático entre las guías de entrada/salida y el MMI utilizando curvas tipo S-Bend. Estas conexiones permiten unir puertos que se encuentran a diferentes alturas manteniendo radios de curvatura suaves y compatibles con las reglas de diseño del PDK.</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sz="1200" u="sng" dirty="0">
                <a:latin typeface="Arial" panose="020B0604020202020204" pitchFamily="34" charset="0"/>
                <a:cs typeface="Arial" panose="020B0604020202020204" pitchFamily="34" charset="0"/>
              </a:rPr>
              <a:t>Python code block 4</a:t>
            </a:r>
            <a:r>
              <a:rPr lang="en-US" sz="1200" dirty="0">
                <a:latin typeface="Arial" panose="020B0604020202020204" pitchFamily="34" charset="0"/>
                <a:cs typeface="Arial" panose="020B0604020202020204" pitchFamily="34" charset="0"/>
              </a:rPr>
              <a:t>: </a:t>
            </a:r>
            <a:r>
              <a:rPr lang="es-ES" sz="1200" dirty="0">
                <a:latin typeface="Arial" panose="020B0604020202020204" pitchFamily="34" charset="0"/>
                <a:cs typeface="Arial" panose="020B0604020202020204" pitchFamily="34" charset="0"/>
              </a:rPr>
              <a:t>Se crea una estructura jerárquica denominada MMI Tree 1x4 mediante la conexión de tres </a:t>
            </a:r>
            <a:r>
              <a:rPr lang="es-ES" sz="1200" dirty="0" err="1">
                <a:latin typeface="Arial" panose="020B0604020202020204" pitchFamily="34" charset="0"/>
                <a:cs typeface="Arial" panose="020B0604020202020204" pitchFamily="34" charset="0"/>
              </a:rPr>
              <a:t>MMIs</a:t>
            </a:r>
            <a:r>
              <a:rPr lang="es-ES" sz="1200" dirty="0">
                <a:latin typeface="Arial" panose="020B0604020202020204" pitchFamily="34" charset="0"/>
                <a:cs typeface="Arial" panose="020B0604020202020204" pitchFamily="34" charset="0"/>
              </a:rPr>
              <a:t> 1x2. Posteriormente se añaden </a:t>
            </a:r>
            <a:r>
              <a:rPr lang="es-ES" sz="1200" dirty="0" err="1">
                <a:latin typeface="Arial" panose="020B0604020202020204" pitchFamily="34" charset="0"/>
                <a:cs typeface="Arial" panose="020B0604020202020204" pitchFamily="34" charset="0"/>
              </a:rPr>
              <a:t>arrays</a:t>
            </a:r>
            <a:r>
              <a:rPr lang="es-ES" sz="1200" dirty="0">
                <a:latin typeface="Arial" panose="020B0604020202020204" pitchFamily="34" charset="0"/>
                <a:cs typeface="Arial" panose="020B0604020202020204" pitchFamily="34" charset="0"/>
              </a:rPr>
              <a:t> de guías de entrada y salida y se conectan mediante rutas automáticas. Este bloque demuestra cómo construir circuitos fotónicos más complejos reutilizando componentes básicos y técnicas de </a:t>
            </a:r>
            <a:r>
              <a:rPr lang="es-ES" sz="1200" dirty="0" err="1">
                <a:latin typeface="Arial" panose="020B0604020202020204" pitchFamily="34" charset="0"/>
                <a:cs typeface="Arial" panose="020B0604020202020204" pitchFamily="34" charset="0"/>
              </a:rPr>
              <a:t>routing</a:t>
            </a:r>
            <a:r>
              <a:rPr lang="es-ES" sz="1200" dirty="0">
                <a:latin typeface="Arial" panose="020B0604020202020204" pitchFamily="34" charset="0"/>
                <a:cs typeface="Arial" panose="020B0604020202020204" pitchFamily="34" charset="0"/>
              </a:rPr>
              <a:t> automático.</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477FE390-5110-6197-676B-E11C853AA96C}"/>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EE069822-09B0-5A16-BA88-2F16A88A5A58}"/>
              </a:ext>
            </a:extLst>
          </p:cNvPr>
          <p:cNvSpPr txBox="1"/>
          <p:nvPr/>
        </p:nvSpPr>
        <p:spPr>
          <a:xfrm>
            <a:off x="7663860" y="3105834"/>
            <a:ext cx="2807885" cy="646331"/>
          </a:xfrm>
          <a:prstGeom prst="rect">
            <a:avLst/>
          </a:prstGeom>
          <a:noFill/>
        </p:spPr>
        <p:txBody>
          <a:bodyPr wrap="none" rtlCol="0">
            <a:spAutoFit/>
          </a:bodyPr>
          <a:lstStyle/>
          <a:p>
            <a:pPr algn="ctr"/>
            <a:r>
              <a:rPr lang="es-ES" dirty="0"/>
              <a:t>Complete </a:t>
            </a:r>
            <a:r>
              <a:rPr lang="es-ES" dirty="0" err="1"/>
              <a:t>layout</a:t>
            </a:r>
            <a:r>
              <a:rPr lang="es-ES" dirty="0"/>
              <a:t> </a:t>
            </a:r>
            <a:r>
              <a:rPr lang="es-ES" dirty="0" err="1"/>
              <a:t>screenshot</a:t>
            </a:r>
            <a:endParaRPr lang="es-ES" dirty="0"/>
          </a:p>
          <a:p>
            <a:pPr algn="ctr"/>
            <a:r>
              <a:rPr lang="es-ES" dirty="0"/>
              <a:t> </a:t>
            </a:r>
            <a:r>
              <a:rPr lang="es-ES" dirty="0" err="1"/>
              <a:t>screenshot</a:t>
            </a:r>
            <a:endParaRPr lang="en-US" dirty="0"/>
          </a:p>
        </p:txBody>
      </p:sp>
      <p:pic>
        <p:nvPicPr>
          <p:cNvPr id="5" name="Imagen 4">
            <a:extLst>
              <a:ext uri="{FF2B5EF4-FFF2-40B4-BE49-F238E27FC236}">
                <a16:creationId xmlns:a16="http://schemas.microsoft.com/office/drawing/2014/main" id="{681C39C3-E2B7-F80D-1E5C-9A8E83AE2DBF}"/>
              </a:ext>
            </a:extLst>
          </p:cNvPr>
          <p:cNvPicPr>
            <a:picLocks noChangeAspect="1"/>
          </p:cNvPicPr>
          <p:nvPr/>
        </p:nvPicPr>
        <p:blipFill>
          <a:blip r:embed="rId4"/>
          <a:stretch>
            <a:fillRect/>
          </a:stretch>
        </p:blipFill>
        <p:spPr>
          <a:xfrm>
            <a:off x="7211187" y="3495768"/>
            <a:ext cx="3424500" cy="2585162"/>
          </a:xfrm>
          <a:prstGeom prst="rect">
            <a:avLst/>
          </a:prstGeom>
        </p:spPr>
      </p:pic>
      <p:pic>
        <p:nvPicPr>
          <p:cNvPr id="7" name="Imagen 6">
            <a:extLst>
              <a:ext uri="{FF2B5EF4-FFF2-40B4-BE49-F238E27FC236}">
                <a16:creationId xmlns:a16="http://schemas.microsoft.com/office/drawing/2014/main" id="{22AC9C44-C04C-AA67-BF4F-21E8B3A9BDCA}"/>
              </a:ext>
            </a:extLst>
          </p:cNvPr>
          <p:cNvPicPr>
            <a:picLocks noChangeAspect="1"/>
          </p:cNvPicPr>
          <p:nvPr/>
        </p:nvPicPr>
        <p:blipFill>
          <a:blip r:embed="rId5"/>
          <a:stretch>
            <a:fillRect/>
          </a:stretch>
        </p:blipFill>
        <p:spPr>
          <a:xfrm>
            <a:off x="7211187" y="1012483"/>
            <a:ext cx="3424500" cy="2585162"/>
          </a:xfrm>
          <a:prstGeom prst="rect">
            <a:avLst/>
          </a:prstGeom>
        </p:spPr>
      </p:pic>
    </p:spTree>
    <p:extLst>
      <p:ext uri="{BB962C8B-B14F-4D97-AF65-F5344CB8AC3E}">
        <p14:creationId xmlns:p14="http://schemas.microsoft.com/office/powerpoint/2010/main" val="19534861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787F0-CB2C-2FE5-5614-A0F16A628E7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02B708D-0704-5977-EC6F-88CF05CBBE8F}"/>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a:t>
            </a:r>
            <a:r>
              <a:rPr lang="en-US" sz="2500" dirty="0">
                <a:solidFill>
                  <a:srgbClr val="FF0000"/>
                </a:solidFill>
              </a:rPr>
              <a:t>a.1</a:t>
            </a:r>
            <a:endParaRPr sz="2500" b="0" i="1" dirty="0">
              <a:solidFill>
                <a:srgbClr val="FF0000"/>
              </a:solidFill>
              <a:latin typeface="+mj-lt"/>
              <a:cs typeface="Lucida Sans"/>
            </a:endParaRPr>
          </a:p>
        </p:txBody>
      </p:sp>
      <p:pic>
        <p:nvPicPr>
          <p:cNvPr id="83" name="Gráfico 82">
            <a:extLst>
              <a:ext uri="{FF2B5EF4-FFF2-40B4-BE49-F238E27FC236}">
                <a16:creationId xmlns:a16="http://schemas.microsoft.com/office/drawing/2014/main" id="{25386122-0096-23D3-AB3A-550FBF0A314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13FD8D6-DEAF-544C-DE8A-FEED1CFD257F}"/>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3" name="Marcador de pie de página 2">
            <a:extLst>
              <a:ext uri="{FF2B5EF4-FFF2-40B4-BE49-F238E27FC236}">
                <a16:creationId xmlns:a16="http://schemas.microsoft.com/office/drawing/2014/main" id="{30B40145-CD7B-EB6E-E37D-B6E973BB915B}"/>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3C6D55FC-5031-5DAE-893E-BF1355747932}"/>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b="1" dirty="0">
                <a:latin typeface="Arial" panose="020B0604020202020204" pitchFamily="34" charset="0"/>
                <a:cs typeface="Arial" panose="020B0604020202020204" pitchFamily="34" charset="0"/>
              </a:rPr>
              <a:t>Code for …</a:t>
            </a:r>
          </a:p>
          <a:p>
            <a:pPr algn="just"/>
            <a:endParaRPr lang="en-US" sz="1200" b="1" dirty="0">
              <a:latin typeface="Arial" panose="020B0604020202020204" pitchFamily="34" charset="0"/>
              <a:cs typeface="Arial" panose="020B0604020202020204" pitchFamily="34" charset="0"/>
            </a:endParaRPr>
          </a:p>
          <a:p>
            <a:pPr algn="just"/>
            <a:r>
              <a:rPr lang="en-US" sz="1200" b="1" dirty="0">
                <a:latin typeface="Arial" panose="020B0604020202020204" pitchFamily="34" charset="0"/>
                <a:cs typeface="Arial" panose="020B0604020202020204" pitchFamily="34" charset="0"/>
              </a:rPr>
              <a:t>Part a) Creating components</a:t>
            </a:r>
          </a:p>
          <a:p>
            <a:pPr algn="just"/>
            <a:r>
              <a:rPr lang="en-US" sz="1200" dirty="0">
                <a:latin typeface="Arial" panose="020B0604020202020204" pitchFamily="34" charset="0"/>
                <a:cs typeface="Arial" panose="020B0604020202020204" pitchFamily="34" charset="0"/>
              </a:rPr>
              <a:t>- </a:t>
            </a:r>
            <a:r>
              <a:rPr lang="en-US" sz="1200" u="sng" dirty="0">
                <a:latin typeface="Arial" panose="020B0604020202020204" pitchFamily="34" charset="0"/>
                <a:cs typeface="Arial" panose="020B0604020202020204" pitchFamily="34" charset="0"/>
              </a:rPr>
              <a:t>Create a cell component for a unbalanced MZI, using 2x2 50:50 MMIs with arm length difference as parameter</a:t>
            </a:r>
          </a:p>
          <a:p>
            <a:pPr algn="just"/>
            <a:r>
              <a:rPr lang="en-US" sz="1200" dirty="0">
                <a:latin typeface="Arial" panose="020B0604020202020204" pitchFamily="34" charset="0"/>
                <a:cs typeface="Arial" panose="020B0604020202020204" pitchFamily="34" charset="0"/>
              </a:rPr>
              <a:t>- Create a cell component based on the previous, where the arms have thermal tuners on top of each one</a:t>
            </a:r>
          </a:p>
          <a:p>
            <a:pPr algn="just"/>
            <a:r>
              <a:rPr lang="en-US" sz="1200" dirty="0">
                <a:latin typeface="Arial" panose="020B0604020202020204" pitchFamily="34" charset="0"/>
                <a:cs typeface="Arial" panose="020B0604020202020204" pitchFamily="34" charset="0"/>
              </a:rPr>
              <a:t>- Create a cell component for an all-pass ring resonator, using 2x2 50:50 MMIs, with extra length parameter for different perimeters</a:t>
            </a:r>
          </a:p>
          <a:p>
            <a:pPr algn="just"/>
            <a:r>
              <a:rPr lang="en-US" sz="1200" dirty="0">
                <a:latin typeface="Arial" panose="020B0604020202020204" pitchFamily="34" charset="0"/>
                <a:cs typeface="Arial" panose="020B0604020202020204" pitchFamily="34" charset="0"/>
              </a:rPr>
              <a:t>- Create a cell component based on the previous, where the ring has a thermal tuner on top along all the perimeter</a:t>
            </a:r>
          </a:p>
          <a:p>
            <a:pPr algn="just"/>
            <a:r>
              <a:rPr lang="en-US" sz="1200" dirty="0">
                <a:latin typeface="Arial" panose="020B0604020202020204" pitchFamily="34" charset="0"/>
                <a:cs typeface="Arial" panose="020B0604020202020204" pitchFamily="34" charset="0"/>
              </a:rPr>
              <a:t>- Create a cell component based on existing </a:t>
            </a:r>
            <a:r>
              <a:rPr lang="en-US" sz="1200" dirty="0" err="1">
                <a:latin typeface="Arial" panose="020B0604020202020204" pitchFamily="34" charset="0"/>
                <a:cs typeface="Arial" panose="020B0604020202020204" pitchFamily="34" charset="0"/>
              </a:rPr>
              <a:t>GDSfactory</a:t>
            </a:r>
            <a:r>
              <a:rPr lang="en-US" sz="1200" dirty="0">
                <a:latin typeface="Arial" panose="020B0604020202020204" pitchFamily="34" charset="0"/>
                <a:cs typeface="Arial" panose="020B0604020202020204" pitchFamily="34" charset="0"/>
              </a:rPr>
              <a:t> spiral components, with length as parameter</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Se ha creado una celda para un interferómetro Mach-Zehnder desbalanceado utilizando dos </a:t>
            </a:r>
            <a:r>
              <a:rPr lang="es-ES" sz="1200" dirty="0" err="1">
                <a:latin typeface="Arial" panose="020B0604020202020204" pitchFamily="34" charset="0"/>
                <a:cs typeface="Arial" panose="020B0604020202020204" pitchFamily="34" charset="0"/>
              </a:rPr>
              <a:t>MMIs</a:t>
            </a:r>
            <a:r>
              <a:rPr lang="es-ES" sz="1200" dirty="0">
                <a:latin typeface="Arial" panose="020B0604020202020204" pitchFamily="34" charset="0"/>
                <a:cs typeface="Arial" panose="020B0604020202020204" pitchFamily="34" charset="0"/>
              </a:rPr>
              <a:t> 2x2 50/50. La diferencia de longitud entre los brazos se introduce como parámetro mediante </a:t>
            </a:r>
            <a:r>
              <a:rPr lang="es-ES" sz="1200" dirty="0" err="1">
                <a:latin typeface="Arial" panose="020B0604020202020204" pitchFamily="34" charset="0"/>
                <a:cs typeface="Arial" panose="020B0604020202020204" pitchFamily="34" charset="0"/>
              </a:rPr>
              <a:t>delta_length</a:t>
            </a:r>
            <a:r>
              <a:rPr lang="es-ES" sz="1200" dirty="0">
                <a:latin typeface="Arial" panose="020B0604020202020204" pitchFamily="34" charset="0"/>
                <a:cs typeface="Arial" panose="020B0604020202020204" pitchFamily="34" charset="0"/>
              </a:rPr>
              <a:t>. En este caso se ha utilizado ΔL = 100 µm, valor obtenido en el Lab3 para generar una respuesta </a:t>
            </a:r>
            <a:r>
              <a:rPr lang="es-ES" sz="1200" dirty="0" err="1">
                <a:latin typeface="Arial" panose="020B0604020202020204" pitchFamily="34" charset="0"/>
                <a:cs typeface="Arial" panose="020B0604020202020204" pitchFamily="34" charset="0"/>
              </a:rPr>
              <a:t>interferométrica</a:t>
            </a:r>
            <a:r>
              <a:rPr lang="es-ES" sz="1200" dirty="0">
                <a:latin typeface="Arial" panose="020B0604020202020204" pitchFamily="34" charset="0"/>
                <a:cs typeface="Arial" panose="020B0604020202020204" pitchFamily="34" charset="0"/>
              </a:rPr>
              <a:t> periódica.</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B7F15AC0-F440-2DF1-6C9D-0A7E2EAFC2C8}"/>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9452515D-9AC0-62DB-2A62-0C197A32C5E7}"/>
              </a:ext>
            </a:extLst>
          </p:cNvPr>
          <p:cNvSpPr txBox="1"/>
          <p:nvPr/>
        </p:nvSpPr>
        <p:spPr>
          <a:xfrm>
            <a:off x="8180318" y="3105834"/>
            <a:ext cx="1774973" cy="369332"/>
          </a:xfrm>
          <a:prstGeom prst="rect">
            <a:avLst/>
          </a:prstGeom>
          <a:noFill/>
        </p:spPr>
        <p:txBody>
          <a:bodyPr wrap="none" rtlCol="0">
            <a:spAutoFit/>
          </a:bodyPr>
          <a:lstStyle/>
          <a:p>
            <a:pPr algn="ctr"/>
            <a:r>
              <a:rPr lang="es-ES" dirty="0" err="1"/>
              <a:t>Screenshot</a:t>
            </a:r>
            <a:r>
              <a:rPr lang="es-ES" dirty="0"/>
              <a:t> </a:t>
            </a:r>
            <a:r>
              <a:rPr lang="es-ES" dirty="0" err="1"/>
              <a:t>for</a:t>
            </a:r>
            <a:r>
              <a:rPr lang="es-ES" dirty="0"/>
              <a:t> …</a:t>
            </a:r>
            <a:endParaRPr lang="en-US" dirty="0"/>
          </a:p>
        </p:txBody>
      </p:sp>
      <p:pic>
        <p:nvPicPr>
          <p:cNvPr id="5" name="Imagen 4">
            <a:extLst>
              <a:ext uri="{FF2B5EF4-FFF2-40B4-BE49-F238E27FC236}">
                <a16:creationId xmlns:a16="http://schemas.microsoft.com/office/drawing/2014/main" id="{A6FDFDF0-4A3E-FAC7-62A3-CA3412449208}"/>
              </a:ext>
            </a:extLst>
          </p:cNvPr>
          <p:cNvPicPr>
            <a:picLocks noChangeAspect="1"/>
          </p:cNvPicPr>
          <p:nvPr/>
        </p:nvPicPr>
        <p:blipFill>
          <a:blip r:embed="rId4"/>
          <a:stretch>
            <a:fillRect/>
          </a:stretch>
        </p:blipFill>
        <p:spPr>
          <a:xfrm>
            <a:off x="6362699" y="1433080"/>
            <a:ext cx="5410200" cy="4084171"/>
          </a:xfrm>
          <a:prstGeom prst="rect">
            <a:avLst/>
          </a:prstGeom>
        </p:spPr>
      </p:pic>
    </p:spTree>
    <p:extLst>
      <p:ext uri="{BB962C8B-B14F-4D97-AF65-F5344CB8AC3E}">
        <p14:creationId xmlns:p14="http://schemas.microsoft.com/office/powerpoint/2010/main" val="7087385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C8F9C-BFC7-DA89-9223-6CCE17FCCD28}"/>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CD1B924F-0571-2FC1-100A-07058A607676}"/>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a:t>
            </a:r>
            <a:r>
              <a:rPr lang="en-US" sz="2500" dirty="0">
                <a:solidFill>
                  <a:srgbClr val="FF0000"/>
                </a:solidFill>
              </a:rPr>
              <a:t>a.2</a:t>
            </a:r>
            <a:endParaRPr sz="2500" b="0" i="1" dirty="0">
              <a:solidFill>
                <a:srgbClr val="FF0000"/>
              </a:solidFill>
              <a:latin typeface="+mj-lt"/>
              <a:cs typeface="Lucida Sans"/>
            </a:endParaRPr>
          </a:p>
        </p:txBody>
      </p:sp>
      <p:pic>
        <p:nvPicPr>
          <p:cNvPr id="83" name="Gráfico 82">
            <a:extLst>
              <a:ext uri="{FF2B5EF4-FFF2-40B4-BE49-F238E27FC236}">
                <a16:creationId xmlns:a16="http://schemas.microsoft.com/office/drawing/2014/main" id="{FD5532A8-9586-7A57-2623-E22FB16CB7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D037FC89-2DEB-DC68-F916-EC3D7FB3C064}"/>
              </a:ext>
            </a:extLst>
          </p:cNvPr>
          <p:cNvSpPr>
            <a:spLocks noGrp="1"/>
          </p:cNvSpPr>
          <p:nvPr>
            <p:ph type="sldNum" sz="quarter" idx="7"/>
          </p:nvPr>
        </p:nvSpPr>
        <p:spPr/>
        <p:txBody>
          <a:bodyPr/>
          <a:lstStyle/>
          <a:p>
            <a:fld id="{B6F15528-21DE-4FAA-801E-634DDDAF4B2B}" type="slidenum">
              <a:rPr lang="es-ES" smtClean="0"/>
              <a:t>15</a:t>
            </a:fld>
            <a:endParaRPr lang="es-ES"/>
          </a:p>
        </p:txBody>
      </p:sp>
      <p:sp>
        <p:nvSpPr>
          <p:cNvPr id="3" name="Marcador de pie de página 2">
            <a:extLst>
              <a:ext uri="{FF2B5EF4-FFF2-40B4-BE49-F238E27FC236}">
                <a16:creationId xmlns:a16="http://schemas.microsoft.com/office/drawing/2014/main" id="{3CCE6A32-7529-50E4-351B-25BF57919B54}"/>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71C4052B-427C-7554-CBF2-C0080BDD50C7}"/>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b="1" dirty="0">
                <a:latin typeface="Arial" panose="020B0604020202020204" pitchFamily="34" charset="0"/>
                <a:cs typeface="Arial" panose="020B0604020202020204" pitchFamily="34" charset="0"/>
              </a:rPr>
              <a:t>Code for …</a:t>
            </a:r>
          </a:p>
          <a:p>
            <a:pPr algn="just"/>
            <a:endParaRPr lang="en-US" sz="1200" b="1" dirty="0">
              <a:latin typeface="Arial" panose="020B0604020202020204" pitchFamily="34" charset="0"/>
              <a:cs typeface="Arial" panose="020B0604020202020204" pitchFamily="34" charset="0"/>
            </a:endParaRPr>
          </a:p>
          <a:p>
            <a:pPr algn="just"/>
            <a:r>
              <a:rPr lang="en-US" sz="1200" b="1" dirty="0">
                <a:latin typeface="Arial" panose="020B0604020202020204" pitchFamily="34" charset="0"/>
                <a:cs typeface="Arial" panose="020B0604020202020204" pitchFamily="34" charset="0"/>
              </a:rPr>
              <a:t>Part a) Creating components</a:t>
            </a:r>
          </a:p>
          <a:p>
            <a:pPr algn="just"/>
            <a:r>
              <a:rPr lang="en-US" sz="1200" dirty="0">
                <a:latin typeface="Arial" panose="020B0604020202020204" pitchFamily="34" charset="0"/>
                <a:cs typeface="Arial" panose="020B0604020202020204" pitchFamily="34" charset="0"/>
              </a:rPr>
              <a:t>- Create a cell component for a unbalanced MZI, using 2x2 50:50 MMIs with arm length difference as parameter</a:t>
            </a:r>
          </a:p>
          <a:p>
            <a:pPr algn="just"/>
            <a:r>
              <a:rPr lang="en-US" sz="1200" dirty="0">
                <a:latin typeface="Arial" panose="020B0604020202020204" pitchFamily="34" charset="0"/>
                <a:cs typeface="Arial" panose="020B0604020202020204" pitchFamily="34" charset="0"/>
              </a:rPr>
              <a:t>- </a:t>
            </a:r>
            <a:r>
              <a:rPr lang="en-US" sz="1200" u="sng" dirty="0">
                <a:latin typeface="Arial" panose="020B0604020202020204" pitchFamily="34" charset="0"/>
                <a:cs typeface="Arial" panose="020B0604020202020204" pitchFamily="34" charset="0"/>
              </a:rPr>
              <a:t>Create a cell component based on the previous, where the arms have thermal tuners on top of each one</a:t>
            </a:r>
          </a:p>
          <a:p>
            <a:pPr algn="just"/>
            <a:r>
              <a:rPr lang="en-US" sz="1200" dirty="0">
                <a:latin typeface="Arial" panose="020B0604020202020204" pitchFamily="34" charset="0"/>
                <a:cs typeface="Arial" panose="020B0604020202020204" pitchFamily="34" charset="0"/>
              </a:rPr>
              <a:t>- Create a cell component for an all-pass ring resonator, using 2x2 50:50 MMIs, with extra length parameter for different perimeters</a:t>
            </a:r>
          </a:p>
          <a:p>
            <a:pPr algn="just"/>
            <a:r>
              <a:rPr lang="en-US" sz="1200" dirty="0">
                <a:latin typeface="Arial" panose="020B0604020202020204" pitchFamily="34" charset="0"/>
                <a:cs typeface="Arial" panose="020B0604020202020204" pitchFamily="34" charset="0"/>
              </a:rPr>
              <a:t>- Create a cell component based on the previous, where the ring has a thermal tuner on top along all the perimeter</a:t>
            </a:r>
          </a:p>
          <a:p>
            <a:pPr algn="just"/>
            <a:r>
              <a:rPr lang="en-US" sz="1200" dirty="0">
                <a:latin typeface="Arial" panose="020B0604020202020204" pitchFamily="34" charset="0"/>
                <a:cs typeface="Arial" panose="020B0604020202020204" pitchFamily="34" charset="0"/>
              </a:rPr>
              <a:t>- Create a cell component based on existing </a:t>
            </a:r>
            <a:r>
              <a:rPr lang="en-US" sz="1200" dirty="0" err="1">
                <a:latin typeface="Arial" panose="020B0604020202020204" pitchFamily="34" charset="0"/>
                <a:cs typeface="Arial" panose="020B0604020202020204" pitchFamily="34" charset="0"/>
              </a:rPr>
              <a:t>GDSfactory</a:t>
            </a:r>
            <a:r>
              <a:rPr lang="en-US" sz="1200" dirty="0">
                <a:latin typeface="Arial" panose="020B0604020202020204" pitchFamily="34" charset="0"/>
                <a:cs typeface="Arial" panose="020B0604020202020204" pitchFamily="34" charset="0"/>
              </a:rPr>
              <a:t> spiral components, with length as parameter</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A partir del MZI desbalanceado anterior se ha creado una celda con calentadores térmicos sobre los dos brazos. Estos calentadores se implementan en la capa HEATER del PDK y permiten modificar localmente el índice efectivo de la guía mediante el efecto </a:t>
            </a:r>
            <a:r>
              <a:rPr lang="es-ES" sz="1200" dirty="0" err="1">
                <a:latin typeface="Arial" panose="020B0604020202020204" pitchFamily="34" charset="0"/>
                <a:cs typeface="Arial" panose="020B0604020202020204" pitchFamily="34" charset="0"/>
              </a:rPr>
              <a:t>termoóptico</a:t>
            </a:r>
            <a:r>
              <a:rPr lang="es-ES" sz="1200" dirty="0">
                <a:latin typeface="Arial" panose="020B0604020202020204" pitchFamily="34" charset="0"/>
                <a:cs typeface="Arial" panose="020B0604020202020204" pitchFamily="34" charset="0"/>
              </a:rPr>
              <a:t>.</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Al variar la temperatura de los brazos, se modifica la fase acumulada en cada camino óptico, permitiendo sintonizar la respuesta </a:t>
            </a:r>
            <a:r>
              <a:rPr lang="es-ES" sz="1200" dirty="0" err="1">
                <a:latin typeface="Arial" panose="020B0604020202020204" pitchFamily="34" charset="0"/>
                <a:cs typeface="Arial" panose="020B0604020202020204" pitchFamily="34" charset="0"/>
              </a:rPr>
              <a:t>interferométrica</a:t>
            </a:r>
            <a:r>
              <a:rPr lang="es-ES" sz="1200" dirty="0">
                <a:latin typeface="Arial" panose="020B0604020202020204" pitchFamily="34" charset="0"/>
                <a:cs typeface="Arial" panose="020B0604020202020204" pitchFamily="34" charset="0"/>
              </a:rPr>
              <a:t> del MZI.</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34E63127-EA21-1E3E-729C-EEECB546DC07}"/>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5F65652B-3BA2-A76A-DC93-FD10A1BFC1DD}"/>
              </a:ext>
            </a:extLst>
          </p:cNvPr>
          <p:cNvSpPr txBox="1"/>
          <p:nvPr/>
        </p:nvSpPr>
        <p:spPr>
          <a:xfrm>
            <a:off x="8180318" y="3105834"/>
            <a:ext cx="1774973" cy="369332"/>
          </a:xfrm>
          <a:prstGeom prst="rect">
            <a:avLst/>
          </a:prstGeom>
          <a:noFill/>
        </p:spPr>
        <p:txBody>
          <a:bodyPr wrap="none" rtlCol="0">
            <a:spAutoFit/>
          </a:bodyPr>
          <a:lstStyle/>
          <a:p>
            <a:pPr algn="ctr"/>
            <a:r>
              <a:rPr lang="es-ES" dirty="0" err="1"/>
              <a:t>Screenshot</a:t>
            </a:r>
            <a:r>
              <a:rPr lang="es-ES" dirty="0"/>
              <a:t> </a:t>
            </a:r>
            <a:r>
              <a:rPr lang="es-ES" dirty="0" err="1"/>
              <a:t>for</a:t>
            </a:r>
            <a:r>
              <a:rPr lang="es-ES" dirty="0"/>
              <a:t> …</a:t>
            </a:r>
            <a:endParaRPr lang="en-US" dirty="0"/>
          </a:p>
        </p:txBody>
      </p:sp>
      <p:pic>
        <p:nvPicPr>
          <p:cNvPr id="10" name="Imagen 9">
            <a:extLst>
              <a:ext uri="{FF2B5EF4-FFF2-40B4-BE49-F238E27FC236}">
                <a16:creationId xmlns:a16="http://schemas.microsoft.com/office/drawing/2014/main" id="{B6A3EA89-561E-31AA-810C-4B8CA83631F0}"/>
              </a:ext>
            </a:extLst>
          </p:cNvPr>
          <p:cNvPicPr>
            <a:picLocks noChangeAspect="1"/>
          </p:cNvPicPr>
          <p:nvPr/>
        </p:nvPicPr>
        <p:blipFill>
          <a:blip r:embed="rId4"/>
          <a:stretch>
            <a:fillRect/>
          </a:stretch>
        </p:blipFill>
        <p:spPr>
          <a:xfrm>
            <a:off x="6418117" y="1290250"/>
            <a:ext cx="5299364" cy="4000500"/>
          </a:xfrm>
          <a:prstGeom prst="rect">
            <a:avLst/>
          </a:prstGeom>
        </p:spPr>
      </p:pic>
    </p:spTree>
    <p:extLst>
      <p:ext uri="{BB962C8B-B14F-4D97-AF65-F5344CB8AC3E}">
        <p14:creationId xmlns:p14="http://schemas.microsoft.com/office/powerpoint/2010/main" val="22893771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E7061-53C2-743D-C6A8-9A5CAB3EF7E1}"/>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9D94CA4B-2B64-B751-9F5A-13B1E13C68CF}"/>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a:t>
            </a:r>
            <a:r>
              <a:rPr lang="en-US" sz="2500" dirty="0">
                <a:solidFill>
                  <a:srgbClr val="FF0000"/>
                </a:solidFill>
              </a:rPr>
              <a:t>a.3</a:t>
            </a:r>
            <a:endParaRPr sz="2500" b="0" i="1" dirty="0">
              <a:solidFill>
                <a:srgbClr val="FF0000"/>
              </a:solidFill>
              <a:latin typeface="+mj-lt"/>
              <a:cs typeface="Lucida Sans"/>
            </a:endParaRPr>
          </a:p>
        </p:txBody>
      </p:sp>
      <p:pic>
        <p:nvPicPr>
          <p:cNvPr id="83" name="Gráfico 82">
            <a:extLst>
              <a:ext uri="{FF2B5EF4-FFF2-40B4-BE49-F238E27FC236}">
                <a16:creationId xmlns:a16="http://schemas.microsoft.com/office/drawing/2014/main" id="{B424E6D6-0B0B-0B0C-3C14-AA40B4D2AB7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38568EBB-1582-AB16-E0B8-F11D41FEB84D}"/>
              </a:ext>
            </a:extLst>
          </p:cNvPr>
          <p:cNvSpPr>
            <a:spLocks noGrp="1"/>
          </p:cNvSpPr>
          <p:nvPr>
            <p:ph type="sldNum" sz="quarter" idx="7"/>
          </p:nvPr>
        </p:nvSpPr>
        <p:spPr/>
        <p:txBody>
          <a:bodyPr/>
          <a:lstStyle/>
          <a:p>
            <a:fld id="{B6F15528-21DE-4FAA-801E-634DDDAF4B2B}" type="slidenum">
              <a:rPr lang="es-ES" smtClean="0"/>
              <a:t>16</a:t>
            </a:fld>
            <a:endParaRPr lang="es-ES"/>
          </a:p>
        </p:txBody>
      </p:sp>
      <p:sp>
        <p:nvSpPr>
          <p:cNvPr id="3" name="Marcador de pie de página 2">
            <a:extLst>
              <a:ext uri="{FF2B5EF4-FFF2-40B4-BE49-F238E27FC236}">
                <a16:creationId xmlns:a16="http://schemas.microsoft.com/office/drawing/2014/main" id="{EFB8A95A-5309-D1A2-F962-DA170E4E5E09}"/>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6E13AA9F-E007-14D1-6F71-EF0CED70192A}"/>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b="1" dirty="0">
                <a:latin typeface="Arial" panose="020B0604020202020204" pitchFamily="34" charset="0"/>
                <a:cs typeface="Arial" panose="020B0604020202020204" pitchFamily="34" charset="0"/>
              </a:rPr>
              <a:t>Code for …</a:t>
            </a:r>
          </a:p>
          <a:p>
            <a:pPr algn="just"/>
            <a:endParaRPr lang="en-US" sz="1200" b="1" dirty="0">
              <a:latin typeface="Arial" panose="020B0604020202020204" pitchFamily="34" charset="0"/>
              <a:cs typeface="Arial" panose="020B0604020202020204" pitchFamily="34" charset="0"/>
            </a:endParaRPr>
          </a:p>
          <a:p>
            <a:pPr algn="just"/>
            <a:r>
              <a:rPr lang="en-US" sz="1200" b="1" dirty="0">
                <a:latin typeface="Arial" panose="020B0604020202020204" pitchFamily="34" charset="0"/>
                <a:cs typeface="Arial" panose="020B0604020202020204" pitchFamily="34" charset="0"/>
              </a:rPr>
              <a:t>Part a) Creating components</a:t>
            </a:r>
          </a:p>
          <a:p>
            <a:pPr algn="just"/>
            <a:r>
              <a:rPr lang="en-US" sz="1200" dirty="0">
                <a:latin typeface="Arial" panose="020B0604020202020204" pitchFamily="34" charset="0"/>
                <a:cs typeface="Arial" panose="020B0604020202020204" pitchFamily="34" charset="0"/>
              </a:rPr>
              <a:t>- Create a cell component for a unbalanced MZI, using 2x2 50:50 MMIs with arm length difference as parameter</a:t>
            </a:r>
          </a:p>
          <a:p>
            <a:pPr algn="just"/>
            <a:r>
              <a:rPr lang="en-US" sz="1200" dirty="0">
                <a:latin typeface="Arial" panose="020B0604020202020204" pitchFamily="34" charset="0"/>
                <a:cs typeface="Arial" panose="020B0604020202020204" pitchFamily="34" charset="0"/>
              </a:rPr>
              <a:t>- Create a cell component based on the previous, where the arms have thermal tuners on top of each one</a:t>
            </a:r>
          </a:p>
          <a:p>
            <a:pPr algn="just"/>
            <a:r>
              <a:rPr lang="en-US" sz="1200" dirty="0">
                <a:latin typeface="Arial" panose="020B0604020202020204" pitchFamily="34" charset="0"/>
                <a:cs typeface="Arial" panose="020B0604020202020204" pitchFamily="34" charset="0"/>
              </a:rPr>
              <a:t>- </a:t>
            </a:r>
            <a:r>
              <a:rPr lang="en-US" sz="1200" u="sng" dirty="0">
                <a:latin typeface="Arial" panose="020B0604020202020204" pitchFamily="34" charset="0"/>
                <a:cs typeface="Arial" panose="020B0604020202020204" pitchFamily="34" charset="0"/>
              </a:rPr>
              <a:t>Create a cell component for an all-pass ring resonator, using 2x2 50:50 MMIs, with extra length parameter for different perimeters</a:t>
            </a:r>
          </a:p>
          <a:p>
            <a:pPr algn="just"/>
            <a:r>
              <a:rPr lang="en-US" sz="1200" dirty="0">
                <a:latin typeface="Arial" panose="020B0604020202020204" pitchFamily="34" charset="0"/>
                <a:cs typeface="Arial" panose="020B0604020202020204" pitchFamily="34" charset="0"/>
              </a:rPr>
              <a:t>- Create a cell component based on the previous, where the ring has a thermal tuner on top along all the perimeter</a:t>
            </a:r>
          </a:p>
          <a:p>
            <a:pPr algn="just"/>
            <a:r>
              <a:rPr lang="en-US" sz="1200" dirty="0">
                <a:latin typeface="Arial" panose="020B0604020202020204" pitchFamily="34" charset="0"/>
                <a:cs typeface="Arial" panose="020B0604020202020204" pitchFamily="34" charset="0"/>
              </a:rPr>
              <a:t>- Create a cell component based on existing </a:t>
            </a:r>
            <a:r>
              <a:rPr lang="en-US" sz="1200" dirty="0" err="1">
                <a:latin typeface="Arial" panose="020B0604020202020204" pitchFamily="34" charset="0"/>
                <a:cs typeface="Arial" panose="020B0604020202020204" pitchFamily="34" charset="0"/>
              </a:rPr>
              <a:t>GDSfactory</a:t>
            </a:r>
            <a:r>
              <a:rPr lang="en-US" sz="1200" dirty="0">
                <a:latin typeface="Arial" panose="020B0604020202020204" pitchFamily="34" charset="0"/>
                <a:cs typeface="Arial" panose="020B0604020202020204" pitchFamily="34" charset="0"/>
              </a:rPr>
              <a:t> spiral components, with length as parameter</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Se ha creado una celda para un resonador en anillo </a:t>
            </a:r>
            <a:r>
              <a:rPr lang="es-ES" sz="1200" dirty="0" err="1">
                <a:latin typeface="Arial" panose="020B0604020202020204" pitchFamily="34" charset="0"/>
                <a:cs typeface="Arial" panose="020B0604020202020204" pitchFamily="34" charset="0"/>
              </a:rPr>
              <a:t>all-pass</a:t>
            </a:r>
            <a:r>
              <a:rPr lang="es-ES" sz="1200" dirty="0">
                <a:latin typeface="Arial" panose="020B0604020202020204" pitchFamily="34" charset="0"/>
                <a:cs typeface="Arial" panose="020B0604020202020204" pitchFamily="34" charset="0"/>
              </a:rPr>
              <a:t>. El componente está formado por una guía bus acoplada lateralmente a un anillo resonante. El parámetro </a:t>
            </a:r>
            <a:r>
              <a:rPr lang="es-ES" sz="1200" dirty="0" err="1">
                <a:latin typeface="Arial" panose="020B0604020202020204" pitchFamily="34" charset="0"/>
                <a:cs typeface="Arial" panose="020B0604020202020204" pitchFamily="34" charset="0"/>
              </a:rPr>
              <a:t>extra_length</a:t>
            </a:r>
            <a:r>
              <a:rPr lang="es-ES" sz="1200" dirty="0">
                <a:latin typeface="Arial" panose="020B0604020202020204" pitchFamily="34" charset="0"/>
                <a:cs typeface="Arial" panose="020B0604020202020204" pitchFamily="34" charset="0"/>
              </a:rPr>
              <a:t> permite modificar el perímetro efectivo del anillo, cambiando así el FSR del dispositivo.</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Aunque en el Lab3 se diseñó un perímetro de 80.083 µm, en el </a:t>
            </a:r>
            <a:r>
              <a:rPr lang="es-ES" sz="1200" dirty="0" err="1">
                <a:latin typeface="Arial" panose="020B0604020202020204" pitchFamily="34" charset="0"/>
                <a:cs typeface="Arial" panose="020B0604020202020204" pitchFamily="34" charset="0"/>
              </a:rPr>
              <a:t>layout</a:t>
            </a:r>
            <a:r>
              <a:rPr lang="es-ES" sz="1200" dirty="0">
                <a:latin typeface="Arial" panose="020B0604020202020204" pitchFamily="34" charset="0"/>
                <a:cs typeface="Arial" panose="020B0604020202020204" pitchFamily="34" charset="0"/>
              </a:rPr>
              <a:t> se utiliza un radio mínimo de 35 µm para cumplir las restricciones de radio mínimo de curvatura del PDK.</a:t>
            </a:r>
            <a:endParaRPr lang="en-US" sz="1200"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A0B35817-518D-FC92-8D39-350641D4A0F7}"/>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E17BC698-6F43-E16B-7D73-5C376F61DF62}"/>
              </a:ext>
            </a:extLst>
          </p:cNvPr>
          <p:cNvSpPr txBox="1"/>
          <p:nvPr/>
        </p:nvSpPr>
        <p:spPr>
          <a:xfrm>
            <a:off x="8180318" y="3105834"/>
            <a:ext cx="1774973" cy="369332"/>
          </a:xfrm>
          <a:prstGeom prst="rect">
            <a:avLst/>
          </a:prstGeom>
          <a:noFill/>
        </p:spPr>
        <p:txBody>
          <a:bodyPr wrap="none" rtlCol="0">
            <a:spAutoFit/>
          </a:bodyPr>
          <a:lstStyle/>
          <a:p>
            <a:pPr algn="ctr"/>
            <a:r>
              <a:rPr lang="es-ES" dirty="0" err="1"/>
              <a:t>Screenshot</a:t>
            </a:r>
            <a:r>
              <a:rPr lang="es-ES" dirty="0"/>
              <a:t> </a:t>
            </a:r>
            <a:r>
              <a:rPr lang="es-ES" dirty="0" err="1"/>
              <a:t>for</a:t>
            </a:r>
            <a:r>
              <a:rPr lang="es-ES" dirty="0"/>
              <a:t> …</a:t>
            </a:r>
            <a:endParaRPr lang="en-US" dirty="0"/>
          </a:p>
        </p:txBody>
      </p:sp>
      <p:pic>
        <p:nvPicPr>
          <p:cNvPr id="5" name="Imagen 4">
            <a:extLst>
              <a:ext uri="{FF2B5EF4-FFF2-40B4-BE49-F238E27FC236}">
                <a16:creationId xmlns:a16="http://schemas.microsoft.com/office/drawing/2014/main" id="{1A896720-0E94-8FD3-ED5A-AD2007DF50AB}"/>
              </a:ext>
            </a:extLst>
          </p:cNvPr>
          <p:cNvPicPr>
            <a:picLocks noChangeAspect="1"/>
          </p:cNvPicPr>
          <p:nvPr/>
        </p:nvPicPr>
        <p:blipFill>
          <a:blip r:embed="rId4"/>
          <a:stretch>
            <a:fillRect/>
          </a:stretch>
        </p:blipFill>
        <p:spPr>
          <a:xfrm>
            <a:off x="6345277" y="1526005"/>
            <a:ext cx="5445043" cy="4110474"/>
          </a:xfrm>
          <a:prstGeom prst="rect">
            <a:avLst/>
          </a:prstGeom>
        </p:spPr>
      </p:pic>
    </p:spTree>
    <p:extLst>
      <p:ext uri="{BB962C8B-B14F-4D97-AF65-F5344CB8AC3E}">
        <p14:creationId xmlns:p14="http://schemas.microsoft.com/office/powerpoint/2010/main" val="34008371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B4F58-5A78-B249-C5F4-119D31DF8CF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AF683633-239C-E376-B6C2-31DDDF03FF9E}"/>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a:t>
            </a:r>
            <a:r>
              <a:rPr lang="en-US" sz="2500" dirty="0">
                <a:solidFill>
                  <a:srgbClr val="FF0000"/>
                </a:solidFill>
              </a:rPr>
              <a:t>a.4</a:t>
            </a:r>
            <a:endParaRPr sz="2500" b="0" i="1" dirty="0">
              <a:solidFill>
                <a:srgbClr val="FF0000"/>
              </a:solidFill>
              <a:latin typeface="+mj-lt"/>
              <a:cs typeface="Lucida Sans"/>
            </a:endParaRPr>
          </a:p>
        </p:txBody>
      </p:sp>
      <p:pic>
        <p:nvPicPr>
          <p:cNvPr id="83" name="Gráfico 82">
            <a:extLst>
              <a:ext uri="{FF2B5EF4-FFF2-40B4-BE49-F238E27FC236}">
                <a16:creationId xmlns:a16="http://schemas.microsoft.com/office/drawing/2014/main" id="{DE28F059-AC23-E085-D8FF-EC0CB3C74F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5327A88-633E-530B-0B5B-CF8005216736}"/>
              </a:ext>
            </a:extLst>
          </p:cNvPr>
          <p:cNvSpPr>
            <a:spLocks noGrp="1"/>
          </p:cNvSpPr>
          <p:nvPr>
            <p:ph type="sldNum" sz="quarter" idx="7"/>
          </p:nvPr>
        </p:nvSpPr>
        <p:spPr/>
        <p:txBody>
          <a:bodyPr/>
          <a:lstStyle/>
          <a:p>
            <a:fld id="{B6F15528-21DE-4FAA-801E-634DDDAF4B2B}" type="slidenum">
              <a:rPr lang="es-ES" smtClean="0"/>
              <a:t>17</a:t>
            </a:fld>
            <a:endParaRPr lang="es-ES"/>
          </a:p>
        </p:txBody>
      </p:sp>
      <p:sp>
        <p:nvSpPr>
          <p:cNvPr id="3" name="Marcador de pie de página 2">
            <a:extLst>
              <a:ext uri="{FF2B5EF4-FFF2-40B4-BE49-F238E27FC236}">
                <a16:creationId xmlns:a16="http://schemas.microsoft.com/office/drawing/2014/main" id="{F11AC43D-BFA8-1444-9C3D-A67F033A7218}"/>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D4423CE3-C38E-E659-27B5-B8DEECCCCF1E}"/>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b="1" dirty="0">
                <a:latin typeface="Arial" panose="020B0604020202020204" pitchFamily="34" charset="0"/>
                <a:cs typeface="Arial" panose="020B0604020202020204" pitchFamily="34" charset="0"/>
              </a:rPr>
              <a:t>Code for …</a:t>
            </a:r>
          </a:p>
          <a:p>
            <a:pPr algn="just"/>
            <a:endParaRPr lang="en-US" sz="1200" b="1" dirty="0">
              <a:latin typeface="Arial" panose="020B0604020202020204" pitchFamily="34" charset="0"/>
              <a:cs typeface="Arial" panose="020B0604020202020204" pitchFamily="34" charset="0"/>
            </a:endParaRPr>
          </a:p>
          <a:p>
            <a:pPr algn="just"/>
            <a:r>
              <a:rPr lang="en-US" sz="1200" b="1" dirty="0">
                <a:latin typeface="Arial" panose="020B0604020202020204" pitchFamily="34" charset="0"/>
                <a:cs typeface="Arial" panose="020B0604020202020204" pitchFamily="34" charset="0"/>
              </a:rPr>
              <a:t>Part a) Creating components</a:t>
            </a:r>
          </a:p>
          <a:p>
            <a:pPr algn="just"/>
            <a:r>
              <a:rPr lang="en-US" sz="1200" dirty="0">
                <a:latin typeface="Arial" panose="020B0604020202020204" pitchFamily="34" charset="0"/>
                <a:cs typeface="Arial" panose="020B0604020202020204" pitchFamily="34" charset="0"/>
              </a:rPr>
              <a:t>- Create a cell component for a unbalanced MZI, using 2x2 50:50 MMIs with arm length difference as parameter</a:t>
            </a:r>
          </a:p>
          <a:p>
            <a:pPr algn="just"/>
            <a:r>
              <a:rPr lang="en-US" sz="1200" dirty="0">
                <a:latin typeface="Arial" panose="020B0604020202020204" pitchFamily="34" charset="0"/>
                <a:cs typeface="Arial" panose="020B0604020202020204" pitchFamily="34" charset="0"/>
              </a:rPr>
              <a:t>- Create a cell component based on the previous, where the arms have thermal tuners on top of each one</a:t>
            </a:r>
          </a:p>
          <a:p>
            <a:pPr algn="just"/>
            <a:r>
              <a:rPr lang="en-US" sz="1200" dirty="0">
                <a:latin typeface="Arial" panose="020B0604020202020204" pitchFamily="34" charset="0"/>
                <a:cs typeface="Arial" panose="020B0604020202020204" pitchFamily="34" charset="0"/>
              </a:rPr>
              <a:t>- Create a cell component for an all-pass ring resonator, using 2x2 50:50 MMIs, with extra length parameter for different perimeters</a:t>
            </a:r>
          </a:p>
          <a:p>
            <a:pPr algn="just"/>
            <a:r>
              <a:rPr lang="en-US" sz="1200" dirty="0">
                <a:latin typeface="Arial" panose="020B0604020202020204" pitchFamily="34" charset="0"/>
                <a:cs typeface="Arial" panose="020B0604020202020204" pitchFamily="34" charset="0"/>
              </a:rPr>
              <a:t>- </a:t>
            </a:r>
            <a:r>
              <a:rPr lang="en-US" sz="1200" u="sng" dirty="0">
                <a:latin typeface="Arial" panose="020B0604020202020204" pitchFamily="34" charset="0"/>
                <a:cs typeface="Arial" panose="020B0604020202020204" pitchFamily="34" charset="0"/>
              </a:rPr>
              <a:t>Create a cell component based on the previous, where the ring has a thermal tuner on top along all the perimeter</a:t>
            </a:r>
          </a:p>
          <a:p>
            <a:pPr algn="just"/>
            <a:r>
              <a:rPr lang="en-US" sz="1200" dirty="0">
                <a:latin typeface="Arial" panose="020B0604020202020204" pitchFamily="34" charset="0"/>
                <a:cs typeface="Arial" panose="020B0604020202020204" pitchFamily="34" charset="0"/>
              </a:rPr>
              <a:t>- Create a cell component based on existing </a:t>
            </a:r>
            <a:r>
              <a:rPr lang="en-US" sz="1200" dirty="0" err="1">
                <a:latin typeface="Arial" panose="020B0604020202020204" pitchFamily="34" charset="0"/>
                <a:cs typeface="Arial" panose="020B0604020202020204" pitchFamily="34" charset="0"/>
              </a:rPr>
              <a:t>GDSfactory</a:t>
            </a:r>
            <a:r>
              <a:rPr lang="en-US" sz="1200" dirty="0">
                <a:latin typeface="Arial" panose="020B0604020202020204" pitchFamily="34" charset="0"/>
                <a:cs typeface="Arial" panose="020B0604020202020204" pitchFamily="34" charset="0"/>
              </a:rPr>
              <a:t> spiral components, with length as parameter</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Se ha creado una celda basada en el resonador </a:t>
            </a:r>
            <a:r>
              <a:rPr lang="es-ES" sz="1200" dirty="0" err="1">
                <a:latin typeface="Arial" panose="020B0604020202020204" pitchFamily="34" charset="0"/>
                <a:cs typeface="Arial" panose="020B0604020202020204" pitchFamily="34" charset="0"/>
              </a:rPr>
              <a:t>all-pass</a:t>
            </a:r>
            <a:r>
              <a:rPr lang="es-ES" sz="1200" dirty="0">
                <a:latin typeface="Arial" panose="020B0604020202020204" pitchFamily="34" charset="0"/>
                <a:cs typeface="Arial" panose="020B0604020202020204" pitchFamily="34" charset="0"/>
              </a:rPr>
              <a:t> anterior, incorporando un calentador térmico sobre el perímetro del anillo. El calentador se sitúa en la capa HEATER del PDK y permite modificar el índice efectivo del anillo mediante el efecto </a:t>
            </a:r>
            <a:r>
              <a:rPr lang="es-ES" sz="1200" dirty="0" err="1">
                <a:latin typeface="Arial" panose="020B0604020202020204" pitchFamily="34" charset="0"/>
                <a:cs typeface="Arial" panose="020B0604020202020204" pitchFamily="34" charset="0"/>
              </a:rPr>
              <a:t>termoóptico</a:t>
            </a:r>
            <a:r>
              <a:rPr lang="es-ES" sz="1200" dirty="0">
                <a:latin typeface="Arial" panose="020B0604020202020204" pitchFamily="34" charset="0"/>
                <a:cs typeface="Arial" panose="020B0604020202020204" pitchFamily="34" charset="0"/>
              </a:rPr>
              <a:t>. De esta forma se puede desplazar la longitud de onda de resonancia del dispositivo.</a:t>
            </a:r>
            <a:endParaRPr lang="en-US" sz="1200"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6B6815B7-60BD-D2E5-098F-A1FB4906CABA}"/>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4C27CA4F-E73D-4C51-78D8-CCF87F2E635E}"/>
              </a:ext>
            </a:extLst>
          </p:cNvPr>
          <p:cNvSpPr txBox="1"/>
          <p:nvPr/>
        </p:nvSpPr>
        <p:spPr>
          <a:xfrm>
            <a:off x="8180318" y="3105834"/>
            <a:ext cx="1774973" cy="369332"/>
          </a:xfrm>
          <a:prstGeom prst="rect">
            <a:avLst/>
          </a:prstGeom>
          <a:noFill/>
        </p:spPr>
        <p:txBody>
          <a:bodyPr wrap="none" rtlCol="0">
            <a:spAutoFit/>
          </a:bodyPr>
          <a:lstStyle/>
          <a:p>
            <a:pPr algn="ctr"/>
            <a:r>
              <a:rPr lang="es-ES" dirty="0" err="1"/>
              <a:t>Screenshot</a:t>
            </a:r>
            <a:r>
              <a:rPr lang="es-ES" dirty="0"/>
              <a:t> </a:t>
            </a:r>
            <a:r>
              <a:rPr lang="es-ES" dirty="0" err="1"/>
              <a:t>for</a:t>
            </a:r>
            <a:r>
              <a:rPr lang="es-ES" dirty="0"/>
              <a:t> …</a:t>
            </a:r>
            <a:endParaRPr lang="en-US" dirty="0"/>
          </a:p>
        </p:txBody>
      </p:sp>
      <p:pic>
        <p:nvPicPr>
          <p:cNvPr id="6" name="Imagen 5">
            <a:extLst>
              <a:ext uri="{FF2B5EF4-FFF2-40B4-BE49-F238E27FC236}">
                <a16:creationId xmlns:a16="http://schemas.microsoft.com/office/drawing/2014/main" id="{04FD787A-D11C-D0EC-98C3-0439D703B5C9}"/>
              </a:ext>
            </a:extLst>
          </p:cNvPr>
          <p:cNvPicPr>
            <a:picLocks noChangeAspect="1"/>
          </p:cNvPicPr>
          <p:nvPr/>
        </p:nvPicPr>
        <p:blipFill>
          <a:blip r:embed="rId4"/>
          <a:stretch>
            <a:fillRect/>
          </a:stretch>
        </p:blipFill>
        <p:spPr>
          <a:xfrm>
            <a:off x="6362699" y="1433080"/>
            <a:ext cx="5410200" cy="4084171"/>
          </a:xfrm>
          <a:prstGeom prst="rect">
            <a:avLst/>
          </a:prstGeom>
        </p:spPr>
      </p:pic>
    </p:spTree>
    <p:extLst>
      <p:ext uri="{BB962C8B-B14F-4D97-AF65-F5344CB8AC3E}">
        <p14:creationId xmlns:p14="http://schemas.microsoft.com/office/powerpoint/2010/main" val="1174676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E5922-8150-9F05-775B-D9A01B2A88D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050F3AD-6EDF-2E18-82A0-8D4A44682683}"/>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a:t>
            </a:r>
            <a:r>
              <a:rPr lang="en-US" sz="2500" dirty="0">
                <a:solidFill>
                  <a:srgbClr val="FF0000"/>
                </a:solidFill>
              </a:rPr>
              <a:t>a.5</a:t>
            </a:r>
            <a:endParaRPr sz="2500" b="0" i="1" dirty="0">
              <a:solidFill>
                <a:srgbClr val="FF0000"/>
              </a:solidFill>
              <a:latin typeface="+mj-lt"/>
              <a:cs typeface="Lucida Sans"/>
            </a:endParaRPr>
          </a:p>
        </p:txBody>
      </p:sp>
      <p:pic>
        <p:nvPicPr>
          <p:cNvPr id="83" name="Gráfico 82">
            <a:extLst>
              <a:ext uri="{FF2B5EF4-FFF2-40B4-BE49-F238E27FC236}">
                <a16:creationId xmlns:a16="http://schemas.microsoft.com/office/drawing/2014/main" id="{B3E0CFC2-8BED-D994-C8E7-5199A817A10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3098931-0803-C6BA-8661-4AE4779673AA}"/>
              </a:ext>
            </a:extLst>
          </p:cNvPr>
          <p:cNvSpPr>
            <a:spLocks noGrp="1"/>
          </p:cNvSpPr>
          <p:nvPr>
            <p:ph type="sldNum" sz="quarter" idx="7"/>
          </p:nvPr>
        </p:nvSpPr>
        <p:spPr/>
        <p:txBody>
          <a:bodyPr/>
          <a:lstStyle/>
          <a:p>
            <a:fld id="{B6F15528-21DE-4FAA-801E-634DDDAF4B2B}" type="slidenum">
              <a:rPr lang="es-ES" smtClean="0"/>
              <a:t>18</a:t>
            </a:fld>
            <a:endParaRPr lang="es-ES"/>
          </a:p>
        </p:txBody>
      </p:sp>
      <p:sp>
        <p:nvSpPr>
          <p:cNvPr id="3" name="Marcador de pie de página 2">
            <a:extLst>
              <a:ext uri="{FF2B5EF4-FFF2-40B4-BE49-F238E27FC236}">
                <a16:creationId xmlns:a16="http://schemas.microsoft.com/office/drawing/2014/main" id="{FF758145-BF2E-8ED2-3DDD-F5CA520B9F7E}"/>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41097F95-924C-2FE7-7010-5F7D4414EBE8}"/>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b="1" dirty="0">
                <a:latin typeface="Arial" panose="020B0604020202020204" pitchFamily="34" charset="0"/>
                <a:cs typeface="Arial" panose="020B0604020202020204" pitchFamily="34" charset="0"/>
              </a:rPr>
              <a:t>Code for …</a:t>
            </a:r>
          </a:p>
          <a:p>
            <a:pPr algn="just"/>
            <a:endParaRPr lang="en-US" sz="1200" b="1" dirty="0">
              <a:latin typeface="Arial" panose="020B0604020202020204" pitchFamily="34" charset="0"/>
              <a:cs typeface="Arial" panose="020B0604020202020204" pitchFamily="34" charset="0"/>
            </a:endParaRPr>
          </a:p>
          <a:p>
            <a:pPr algn="just"/>
            <a:r>
              <a:rPr lang="en-US" sz="1200" b="1" dirty="0">
                <a:latin typeface="Arial" panose="020B0604020202020204" pitchFamily="34" charset="0"/>
                <a:cs typeface="Arial" panose="020B0604020202020204" pitchFamily="34" charset="0"/>
              </a:rPr>
              <a:t>Part a) Creating components</a:t>
            </a:r>
          </a:p>
          <a:p>
            <a:pPr algn="just"/>
            <a:r>
              <a:rPr lang="en-US" sz="1200" dirty="0">
                <a:latin typeface="Arial" panose="020B0604020202020204" pitchFamily="34" charset="0"/>
                <a:cs typeface="Arial" panose="020B0604020202020204" pitchFamily="34" charset="0"/>
              </a:rPr>
              <a:t>- Create a cell component for a unbalanced MZI, using 2x2 50:50 MMIs with arm length difference as parameter</a:t>
            </a:r>
          </a:p>
          <a:p>
            <a:pPr algn="just"/>
            <a:r>
              <a:rPr lang="en-US" sz="1200" dirty="0">
                <a:latin typeface="Arial" panose="020B0604020202020204" pitchFamily="34" charset="0"/>
                <a:cs typeface="Arial" panose="020B0604020202020204" pitchFamily="34" charset="0"/>
              </a:rPr>
              <a:t>- Create a cell component based on the previous, where the arms have thermal tuners on top of each one</a:t>
            </a:r>
          </a:p>
          <a:p>
            <a:pPr algn="just"/>
            <a:r>
              <a:rPr lang="en-US" sz="1200" dirty="0">
                <a:latin typeface="Arial" panose="020B0604020202020204" pitchFamily="34" charset="0"/>
                <a:cs typeface="Arial" panose="020B0604020202020204" pitchFamily="34" charset="0"/>
              </a:rPr>
              <a:t>- Create a cell component for an all-pass ring resonator, using 2x2 50:50 MMIs, with extra length parameter for different perimeters</a:t>
            </a:r>
          </a:p>
          <a:p>
            <a:pPr algn="just"/>
            <a:r>
              <a:rPr lang="en-US" sz="1200" dirty="0">
                <a:latin typeface="Arial" panose="020B0604020202020204" pitchFamily="34" charset="0"/>
                <a:cs typeface="Arial" panose="020B0604020202020204" pitchFamily="34" charset="0"/>
              </a:rPr>
              <a:t>- Create a cell component based on the previous, where the ring has a thermal tuner on top along all the perimeter</a:t>
            </a:r>
          </a:p>
          <a:p>
            <a:pPr algn="just"/>
            <a:r>
              <a:rPr lang="en-US" sz="1200" dirty="0">
                <a:latin typeface="Arial" panose="020B0604020202020204" pitchFamily="34" charset="0"/>
                <a:cs typeface="Arial" panose="020B0604020202020204" pitchFamily="34" charset="0"/>
              </a:rPr>
              <a:t>- </a:t>
            </a:r>
            <a:r>
              <a:rPr lang="en-US" sz="1200" u="sng" dirty="0">
                <a:latin typeface="Arial" panose="020B0604020202020204" pitchFamily="34" charset="0"/>
                <a:cs typeface="Arial" panose="020B0604020202020204" pitchFamily="34" charset="0"/>
              </a:rPr>
              <a:t>Create a cell component based on existing </a:t>
            </a:r>
            <a:r>
              <a:rPr lang="en-US" sz="1200" u="sng" dirty="0" err="1">
                <a:latin typeface="Arial" panose="020B0604020202020204" pitchFamily="34" charset="0"/>
                <a:cs typeface="Arial" panose="020B0604020202020204" pitchFamily="34" charset="0"/>
              </a:rPr>
              <a:t>GDSfactory</a:t>
            </a:r>
            <a:r>
              <a:rPr lang="en-US" sz="1200" u="sng" dirty="0">
                <a:latin typeface="Arial" panose="020B0604020202020204" pitchFamily="34" charset="0"/>
                <a:cs typeface="Arial" panose="020B0604020202020204" pitchFamily="34" charset="0"/>
              </a:rPr>
              <a:t> spiral components, with length as parameter</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Se ha creado una celda basada en los componentes de espiral existentes en </a:t>
            </a:r>
            <a:r>
              <a:rPr lang="es-ES" sz="1200" dirty="0" err="1">
                <a:latin typeface="Arial" panose="020B0604020202020204" pitchFamily="34" charset="0"/>
                <a:cs typeface="Arial" panose="020B0604020202020204" pitchFamily="34" charset="0"/>
              </a:rPr>
              <a:t>GDSFactory</a:t>
            </a:r>
            <a:r>
              <a:rPr lang="es-ES" sz="1200" dirty="0">
                <a:latin typeface="Arial" panose="020B0604020202020204" pitchFamily="34" charset="0"/>
                <a:cs typeface="Arial" panose="020B0604020202020204" pitchFamily="34" charset="0"/>
              </a:rPr>
              <a:t>. La longitud de la espiral se introduce como parámetro, permitiendo generar guías compactas de distinta longitud dentro de un área reducida. Este tipo de estructura es útil para implementar retardos ópticos o brazos largos sin ocupar una gran superficie del chip.</a:t>
            </a:r>
            <a:endParaRPr lang="en-US" sz="1200"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C0EE9168-FC75-4138-D860-B87F3680CAB6}"/>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4A2575D0-BD7C-E31E-CB01-63D35C2258CD}"/>
              </a:ext>
            </a:extLst>
          </p:cNvPr>
          <p:cNvSpPr txBox="1"/>
          <p:nvPr/>
        </p:nvSpPr>
        <p:spPr>
          <a:xfrm>
            <a:off x="8180318" y="3105834"/>
            <a:ext cx="1774973" cy="369332"/>
          </a:xfrm>
          <a:prstGeom prst="rect">
            <a:avLst/>
          </a:prstGeom>
          <a:noFill/>
        </p:spPr>
        <p:txBody>
          <a:bodyPr wrap="none" rtlCol="0">
            <a:spAutoFit/>
          </a:bodyPr>
          <a:lstStyle/>
          <a:p>
            <a:pPr algn="ctr"/>
            <a:r>
              <a:rPr lang="es-ES" dirty="0" err="1"/>
              <a:t>Screenshot</a:t>
            </a:r>
            <a:r>
              <a:rPr lang="es-ES" dirty="0"/>
              <a:t> </a:t>
            </a:r>
            <a:r>
              <a:rPr lang="es-ES" dirty="0" err="1"/>
              <a:t>for</a:t>
            </a:r>
            <a:r>
              <a:rPr lang="es-ES" dirty="0"/>
              <a:t> …</a:t>
            </a:r>
            <a:endParaRPr lang="en-US" dirty="0"/>
          </a:p>
        </p:txBody>
      </p:sp>
      <p:pic>
        <p:nvPicPr>
          <p:cNvPr id="5" name="Imagen 4">
            <a:extLst>
              <a:ext uri="{FF2B5EF4-FFF2-40B4-BE49-F238E27FC236}">
                <a16:creationId xmlns:a16="http://schemas.microsoft.com/office/drawing/2014/main" id="{86C3DF5C-A222-480A-E9B2-FE5F0FC82C16}"/>
              </a:ext>
            </a:extLst>
          </p:cNvPr>
          <p:cNvPicPr>
            <a:picLocks noChangeAspect="1"/>
          </p:cNvPicPr>
          <p:nvPr/>
        </p:nvPicPr>
        <p:blipFill>
          <a:blip r:embed="rId4"/>
          <a:stretch>
            <a:fillRect/>
          </a:stretch>
        </p:blipFill>
        <p:spPr>
          <a:xfrm>
            <a:off x="6363886" y="1540053"/>
            <a:ext cx="5407825" cy="4082378"/>
          </a:xfrm>
          <a:prstGeom prst="rect">
            <a:avLst/>
          </a:prstGeom>
        </p:spPr>
      </p:pic>
    </p:spTree>
    <p:extLst>
      <p:ext uri="{BB962C8B-B14F-4D97-AF65-F5344CB8AC3E}">
        <p14:creationId xmlns:p14="http://schemas.microsoft.com/office/powerpoint/2010/main" val="4506273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F09F3-56D0-27D8-0B4B-DED8A94683F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D0D44BE-66F4-F447-4798-DF77629B9BA5}"/>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a:t>
            </a:r>
            <a:r>
              <a:rPr lang="en-US" sz="2500" dirty="0">
                <a:solidFill>
                  <a:srgbClr val="FF0000"/>
                </a:solidFill>
              </a:rPr>
              <a:t>b</a:t>
            </a:r>
            <a:endParaRPr sz="2500" b="0" i="1" dirty="0">
              <a:solidFill>
                <a:srgbClr val="FF0000"/>
              </a:solidFill>
              <a:latin typeface="+mj-lt"/>
              <a:cs typeface="Lucida Sans"/>
            </a:endParaRPr>
          </a:p>
        </p:txBody>
      </p:sp>
      <p:pic>
        <p:nvPicPr>
          <p:cNvPr id="83" name="Gráfico 82">
            <a:extLst>
              <a:ext uri="{FF2B5EF4-FFF2-40B4-BE49-F238E27FC236}">
                <a16:creationId xmlns:a16="http://schemas.microsoft.com/office/drawing/2014/main" id="{90060830-043C-0E0E-F561-33F9FAF71B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3810360-4A7C-B669-01A5-2628286EDEF1}"/>
              </a:ext>
            </a:extLst>
          </p:cNvPr>
          <p:cNvSpPr>
            <a:spLocks noGrp="1"/>
          </p:cNvSpPr>
          <p:nvPr>
            <p:ph type="sldNum" sz="quarter" idx="7"/>
          </p:nvPr>
        </p:nvSpPr>
        <p:spPr/>
        <p:txBody>
          <a:bodyPr/>
          <a:lstStyle/>
          <a:p>
            <a:fld id="{B6F15528-21DE-4FAA-801E-634DDDAF4B2B}" type="slidenum">
              <a:rPr lang="es-ES" smtClean="0"/>
              <a:t>19</a:t>
            </a:fld>
            <a:endParaRPr lang="es-ES"/>
          </a:p>
        </p:txBody>
      </p:sp>
      <p:sp>
        <p:nvSpPr>
          <p:cNvPr id="3" name="Marcador de pie de página 2">
            <a:extLst>
              <a:ext uri="{FF2B5EF4-FFF2-40B4-BE49-F238E27FC236}">
                <a16:creationId xmlns:a16="http://schemas.microsoft.com/office/drawing/2014/main" id="{29CFEEA9-F77E-5A65-A77E-730CB255CD64}"/>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749ADB6E-6728-7C5F-26C2-5D0FF6B6C2E2}"/>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b="1" dirty="0">
                <a:latin typeface="Arial" panose="020B0604020202020204" pitchFamily="34" charset="0"/>
                <a:cs typeface="Arial" panose="020B0604020202020204" pitchFamily="34" charset="0"/>
              </a:rPr>
              <a:t>Code for …</a:t>
            </a:r>
          </a:p>
          <a:p>
            <a:pPr algn="just"/>
            <a:endParaRPr lang="en-US" sz="1200" b="1" dirty="0">
              <a:latin typeface="Arial" panose="020B0604020202020204" pitchFamily="34" charset="0"/>
              <a:cs typeface="Arial" panose="020B0604020202020204" pitchFamily="34" charset="0"/>
            </a:endParaRPr>
          </a:p>
          <a:p>
            <a:pPr algn="just"/>
            <a:r>
              <a:rPr lang="en-US" sz="1200" b="1" dirty="0">
                <a:latin typeface="Arial" panose="020B0604020202020204" pitchFamily="34" charset="0"/>
                <a:cs typeface="Arial" panose="020B0604020202020204" pitchFamily="34" charset="0"/>
              </a:rPr>
              <a:t>Part b) Creating die</a:t>
            </a:r>
          </a:p>
          <a:p>
            <a:pPr algn="just"/>
            <a:r>
              <a:rPr lang="en-US" sz="1200" dirty="0">
                <a:latin typeface="Arial" panose="020B0604020202020204" pitchFamily="34" charset="0"/>
                <a:cs typeface="Arial" panose="020B0604020202020204" pitchFamily="34" charset="0"/>
              </a:rPr>
              <a:t>- Create a die  W = 5 mm x L = 10 mm </a:t>
            </a:r>
          </a:p>
          <a:p>
            <a:pPr algn="just"/>
            <a:r>
              <a:rPr lang="en-US" sz="1200" dirty="0">
                <a:latin typeface="Arial" panose="020B0604020202020204" pitchFamily="34" charset="0"/>
                <a:cs typeface="Arial" panose="020B0604020202020204" pitchFamily="34" charset="0"/>
              </a:rPr>
              <a:t>- Create an array of I/</a:t>
            </a:r>
            <a:r>
              <a:rPr lang="en-US" sz="1200" dirty="0" err="1">
                <a:latin typeface="Arial" panose="020B0604020202020204" pitchFamily="34" charset="0"/>
                <a:cs typeface="Arial" panose="020B0604020202020204" pitchFamily="34" charset="0"/>
              </a:rPr>
              <a:t>Os</a:t>
            </a:r>
            <a:r>
              <a:rPr lang="en-US" sz="1200" dirty="0">
                <a:latin typeface="Arial" panose="020B0604020202020204" pitchFamily="34" charset="0"/>
                <a:cs typeface="Arial" panose="020B0604020202020204" pitchFamily="34" charset="0"/>
              </a:rPr>
              <a:t> spaced at 250 µm (as much I/</a:t>
            </a:r>
            <a:r>
              <a:rPr lang="en-US" sz="1200" dirty="0" err="1">
                <a:latin typeface="Arial" panose="020B0604020202020204" pitchFamily="34" charset="0"/>
                <a:cs typeface="Arial" panose="020B0604020202020204" pitchFamily="34" charset="0"/>
              </a:rPr>
              <a:t>Os</a:t>
            </a:r>
            <a:r>
              <a:rPr lang="en-US" sz="1200" dirty="0">
                <a:latin typeface="Arial" panose="020B0604020202020204" pitchFamily="34" charset="0"/>
                <a:cs typeface="Arial" panose="020B0604020202020204" pitchFamily="34" charset="0"/>
              </a:rPr>
              <a:t> as the width allows)</a:t>
            </a:r>
          </a:p>
          <a:p>
            <a:pPr algn="just"/>
            <a:r>
              <a:rPr lang="en-US" sz="1200" dirty="0">
                <a:latin typeface="Arial" panose="020B0604020202020204" pitchFamily="34" charset="0"/>
                <a:cs typeface="Arial" panose="020B0604020202020204" pitchFamily="34" charset="0"/>
              </a:rPr>
              <a:t>- Create a cell component of this die, with I/</a:t>
            </a:r>
            <a:r>
              <a:rPr lang="en-US" sz="1200" dirty="0" err="1">
                <a:latin typeface="Arial" panose="020B0604020202020204" pitchFamily="34" charset="0"/>
                <a:cs typeface="Arial" panose="020B0604020202020204" pitchFamily="34" charset="0"/>
              </a:rPr>
              <a:t>Os</a:t>
            </a:r>
            <a:r>
              <a:rPr lang="en-US" sz="1200" dirty="0">
                <a:latin typeface="Arial" panose="020B0604020202020204" pitchFamily="34" charset="0"/>
                <a:cs typeface="Arial" panose="020B0604020202020204" pitchFamily="34" charset="0"/>
              </a:rPr>
              <a:t> accessible to connect</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Se ha creado una celda para un die de 5 mm de anchura y 10 mm de longitud. En los laterales del chip se han añadido </a:t>
            </a:r>
            <a:r>
              <a:rPr lang="es-ES" sz="1200" dirty="0" err="1">
                <a:latin typeface="Arial" panose="020B0604020202020204" pitchFamily="34" charset="0"/>
                <a:cs typeface="Arial" panose="020B0604020202020204" pitchFamily="34" charset="0"/>
              </a:rPr>
              <a:t>arrays</a:t>
            </a:r>
            <a:r>
              <a:rPr lang="es-ES" sz="1200" dirty="0">
                <a:latin typeface="Arial" panose="020B0604020202020204" pitchFamily="34" charset="0"/>
                <a:cs typeface="Arial" panose="020B0604020202020204" pitchFamily="34" charset="0"/>
              </a:rPr>
              <a:t> de guías de entrada y salida separadas 250 µm entre sí. El número de I/Os se calcula en función de la altura útil del die, dejando un margen definido por el parámetro </a:t>
            </a:r>
            <a:r>
              <a:rPr lang="es-ES" sz="1200" dirty="0" err="1">
                <a:latin typeface="Arial" panose="020B0604020202020204" pitchFamily="34" charset="0"/>
                <a:cs typeface="Arial" panose="020B0604020202020204" pitchFamily="34" charset="0"/>
              </a:rPr>
              <a:t>border</a:t>
            </a:r>
            <a:r>
              <a:rPr lang="es-ES" sz="1200" dirty="0">
                <a:latin typeface="Arial" panose="020B0604020202020204" pitchFamily="34" charset="0"/>
                <a:cs typeface="Arial" panose="020B0604020202020204" pitchFamily="34" charset="0"/>
              </a:rPr>
              <a:t>. Los puertos se exportan para que puedan conectarse posteriormente con los componentes del </a:t>
            </a:r>
            <a:r>
              <a:rPr lang="es-ES" sz="1200" dirty="0" err="1">
                <a:latin typeface="Arial" panose="020B0604020202020204" pitchFamily="34" charset="0"/>
                <a:cs typeface="Arial" panose="020B0604020202020204" pitchFamily="34" charset="0"/>
              </a:rPr>
              <a:t>layout</a:t>
            </a:r>
            <a:r>
              <a:rPr lang="es-ES" sz="12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B6713C4C-273C-F58A-B0BB-7DF6DAEB9986}"/>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4EF34DFE-E7CA-17F3-563C-10B06066182E}"/>
              </a:ext>
            </a:extLst>
          </p:cNvPr>
          <p:cNvSpPr txBox="1"/>
          <p:nvPr/>
        </p:nvSpPr>
        <p:spPr>
          <a:xfrm>
            <a:off x="8180318" y="3105834"/>
            <a:ext cx="1774973" cy="369332"/>
          </a:xfrm>
          <a:prstGeom prst="rect">
            <a:avLst/>
          </a:prstGeom>
          <a:noFill/>
        </p:spPr>
        <p:txBody>
          <a:bodyPr wrap="none" rtlCol="0">
            <a:spAutoFit/>
          </a:bodyPr>
          <a:lstStyle/>
          <a:p>
            <a:pPr algn="ctr"/>
            <a:r>
              <a:rPr lang="es-ES" dirty="0" err="1"/>
              <a:t>Screenshot</a:t>
            </a:r>
            <a:r>
              <a:rPr lang="es-ES" dirty="0"/>
              <a:t> </a:t>
            </a:r>
            <a:r>
              <a:rPr lang="es-ES" dirty="0" err="1"/>
              <a:t>for</a:t>
            </a:r>
            <a:r>
              <a:rPr lang="es-ES" dirty="0"/>
              <a:t> …</a:t>
            </a:r>
            <a:endParaRPr lang="en-US" dirty="0"/>
          </a:p>
        </p:txBody>
      </p:sp>
      <p:pic>
        <p:nvPicPr>
          <p:cNvPr id="5" name="Imagen 4">
            <a:extLst>
              <a:ext uri="{FF2B5EF4-FFF2-40B4-BE49-F238E27FC236}">
                <a16:creationId xmlns:a16="http://schemas.microsoft.com/office/drawing/2014/main" id="{1AC04CFD-65A4-5229-55F4-699C117B9725}"/>
              </a:ext>
            </a:extLst>
          </p:cNvPr>
          <p:cNvPicPr>
            <a:picLocks noChangeAspect="1"/>
          </p:cNvPicPr>
          <p:nvPr/>
        </p:nvPicPr>
        <p:blipFill>
          <a:blip r:embed="rId4"/>
          <a:stretch>
            <a:fillRect/>
          </a:stretch>
        </p:blipFill>
        <p:spPr>
          <a:xfrm>
            <a:off x="6286499" y="1329391"/>
            <a:ext cx="5562599" cy="4199217"/>
          </a:xfrm>
          <a:prstGeom prst="rect">
            <a:avLst/>
          </a:prstGeom>
        </p:spPr>
      </p:pic>
    </p:spTree>
    <p:extLst>
      <p:ext uri="{BB962C8B-B14F-4D97-AF65-F5344CB8AC3E}">
        <p14:creationId xmlns:p14="http://schemas.microsoft.com/office/powerpoint/2010/main" val="25499449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5E8BB-B536-EF32-CBC2-B12A70C43521}"/>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89FCF477-5CE0-586B-73E8-7C74F37E5CE8}"/>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a:t>
            </a:r>
            <a:r>
              <a:rPr lang="en-US" sz="2500" dirty="0">
                <a:solidFill>
                  <a:srgbClr val="FF0000"/>
                </a:solidFill>
              </a:rPr>
              <a:t>c</a:t>
            </a:r>
            <a:endParaRPr sz="2500" b="0" i="1" dirty="0">
              <a:solidFill>
                <a:srgbClr val="FF0000"/>
              </a:solidFill>
              <a:latin typeface="+mj-lt"/>
              <a:cs typeface="Lucida Sans"/>
            </a:endParaRPr>
          </a:p>
        </p:txBody>
      </p:sp>
      <p:pic>
        <p:nvPicPr>
          <p:cNvPr id="83" name="Gráfico 82">
            <a:extLst>
              <a:ext uri="{FF2B5EF4-FFF2-40B4-BE49-F238E27FC236}">
                <a16:creationId xmlns:a16="http://schemas.microsoft.com/office/drawing/2014/main" id="{7D45FD49-6E9F-DDB7-EB8B-C2F898D1A36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FA5E3B8-D2D0-A7D3-086F-8A42224874DD}"/>
              </a:ext>
            </a:extLst>
          </p:cNvPr>
          <p:cNvSpPr>
            <a:spLocks noGrp="1"/>
          </p:cNvSpPr>
          <p:nvPr>
            <p:ph type="sldNum" sz="quarter" idx="7"/>
          </p:nvPr>
        </p:nvSpPr>
        <p:spPr/>
        <p:txBody>
          <a:bodyPr/>
          <a:lstStyle/>
          <a:p>
            <a:fld id="{B6F15528-21DE-4FAA-801E-634DDDAF4B2B}" type="slidenum">
              <a:rPr lang="es-ES" smtClean="0"/>
              <a:t>20</a:t>
            </a:fld>
            <a:endParaRPr lang="es-ES"/>
          </a:p>
        </p:txBody>
      </p:sp>
      <p:sp>
        <p:nvSpPr>
          <p:cNvPr id="3" name="Marcador de pie de página 2">
            <a:extLst>
              <a:ext uri="{FF2B5EF4-FFF2-40B4-BE49-F238E27FC236}">
                <a16:creationId xmlns:a16="http://schemas.microsoft.com/office/drawing/2014/main" id="{248CFB11-462C-B49A-2479-B6530163563A}"/>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4649A83E-D821-3C81-6A83-BADE683459F3}"/>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b="1" dirty="0">
                <a:latin typeface="Arial" panose="020B0604020202020204" pitchFamily="34" charset="0"/>
                <a:cs typeface="Arial" panose="020B0604020202020204" pitchFamily="34" charset="0"/>
              </a:rPr>
              <a:t>Code for …</a:t>
            </a:r>
          </a:p>
          <a:p>
            <a:pPr algn="just"/>
            <a:endParaRPr lang="en-US" sz="1200" b="1" dirty="0">
              <a:latin typeface="Arial" panose="020B0604020202020204" pitchFamily="34" charset="0"/>
              <a:cs typeface="Arial" panose="020B0604020202020204" pitchFamily="34" charset="0"/>
            </a:endParaRPr>
          </a:p>
          <a:p>
            <a:pPr algn="just"/>
            <a:r>
              <a:rPr lang="en-US" sz="1200" b="1" dirty="0">
                <a:latin typeface="Arial" panose="020B0604020202020204" pitchFamily="34" charset="0"/>
                <a:cs typeface="Arial" panose="020B0604020202020204" pitchFamily="34" charset="0"/>
              </a:rPr>
              <a:t>Part c) </a:t>
            </a:r>
            <a:r>
              <a:rPr lang="en-US" sz="1200" b="1" dirty="0" err="1">
                <a:latin typeface="Arial" panose="020B0604020202020204" pitchFamily="34" charset="0"/>
                <a:cs typeface="Arial" panose="020B0604020202020204" pitchFamily="34" charset="0"/>
              </a:rPr>
              <a:t>Floorplaning</a:t>
            </a:r>
            <a:r>
              <a:rPr lang="en-US" sz="1200" b="1" dirty="0">
                <a:latin typeface="Arial" panose="020B0604020202020204" pitchFamily="34" charset="0"/>
                <a:cs typeface="Arial" panose="020B0604020202020204" pitchFamily="34" charset="0"/>
              </a:rPr>
              <a:t> and die layout</a:t>
            </a:r>
          </a:p>
          <a:p>
            <a:pPr algn="just"/>
            <a:r>
              <a:rPr lang="en-US" sz="1200" dirty="0">
                <a:latin typeface="Arial" panose="020B0604020202020204" pitchFamily="34" charset="0"/>
                <a:cs typeface="Arial" panose="020B0604020202020204" pitchFamily="34" charset="0"/>
              </a:rPr>
              <a:t>- Make an instance of the die as host component for your layout</a:t>
            </a:r>
          </a:p>
          <a:p>
            <a:pPr algn="just"/>
            <a:r>
              <a:rPr lang="en-US" sz="1200" dirty="0">
                <a:latin typeface="Arial" panose="020B0604020202020204" pitchFamily="34" charset="0"/>
                <a:cs typeface="Arial" panose="020B0604020202020204" pitchFamily="34" charset="0"/>
              </a:rPr>
              <a:t>- Add 3 sets of 3 straight waveguides, from left to right of the die, top, middle and bottom of the die</a:t>
            </a:r>
          </a:p>
          <a:p>
            <a:pPr algn="just"/>
            <a:r>
              <a:rPr lang="en-US" sz="1200" dirty="0">
                <a:latin typeface="Arial" panose="020B0604020202020204" pitchFamily="34" charset="0"/>
                <a:cs typeface="Arial" panose="020B0604020202020204" pitchFamily="34" charset="0"/>
              </a:rPr>
              <a:t>- Add 2 of each of the components above, with different lengths</a:t>
            </a:r>
          </a:p>
          <a:p>
            <a:pPr algn="just"/>
            <a:r>
              <a:rPr lang="en-US" sz="1200" dirty="0">
                <a:latin typeface="Arial" panose="020B0604020202020204" pitchFamily="34" charset="0"/>
                <a:cs typeface="Arial" panose="020B0604020202020204" pitchFamily="34" charset="0"/>
              </a:rPr>
              <a:t>- Connect all your components to the I/</a:t>
            </a:r>
            <a:r>
              <a:rPr lang="en-US" sz="1200" dirty="0" err="1">
                <a:latin typeface="Arial" panose="020B0604020202020204" pitchFamily="34" charset="0"/>
                <a:cs typeface="Arial" panose="020B0604020202020204" pitchFamily="34" charset="0"/>
              </a:rPr>
              <a:t>Os</a:t>
            </a:r>
            <a:r>
              <a:rPr lang="en-US" sz="1200" dirty="0">
                <a:latin typeface="Arial" panose="020B0604020202020204" pitchFamily="34" charset="0"/>
                <a:cs typeface="Arial" panose="020B0604020202020204" pitchFamily="34" charset="0"/>
              </a:rPr>
              <a:t>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Se ha creado un </a:t>
            </a:r>
            <a:r>
              <a:rPr lang="es-ES" sz="1200" dirty="0" err="1">
                <a:latin typeface="Arial" panose="020B0604020202020204" pitchFamily="34" charset="0"/>
                <a:cs typeface="Arial" panose="020B0604020202020204" pitchFamily="34" charset="0"/>
              </a:rPr>
              <a:t>layout</a:t>
            </a:r>
            <a:r>
              <a:rPr lang="es-ES" sz="1200" dirty="0">
                <a:latin typeface="Arial" panose="020B0604020202020204" pitchFamily="34" charset="0"/>
                <a:cs typeface="Arial" panose="020B0604020202020204" pitchFamily="34" charset="0"/>
              </a:rPr>
              <a:t> completo utilizando el die de 5 mm x 10 mm como componente anfitrión. Dentro del chip se han colocado tres grupos de tres guías rectas distribuidas en la zona superior, media e inferior del die. Además, se han instanciado dos versiones de cada componente diseñado previamente: </a:t>
            </a:r>
            <a:r>
              <a:rPr lang="es-ES" sz="1200" dirty="0" err="1">
                <a:latin typeface="Arial" panose="020B0604020202020204" pitchFamily="34" charset="0"/>
                <a:cs typeface="Arial" panose="020B0604020202020204" pitchFamily="34" charset="0"/>
              </a:rPr>
              <a:t>MZIs</a:t>
            </a:r>
            <a:r>
              <a:rPr lang="es-ES" sz="1200" dirty="0">
                <a:latin typeface="Arial" panose="020B0604020202020204" pitchFamily="34" charset="0"/>
                <a:cs typeface="Arial" panose="020B0604020202020204" pitchFamily="34" charset="0"/>
              </a:rPr>
              <a:t> desbalanceados, resonadores en anillo, resonadores con calentador y espirales ópticas.</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Cada componente se genera con diferentes parámetros de longitud, lo que permite observar cómo una misma celda puede reutilizarse para crear variantes de un dispositivo. Este diseño demuestra el uso de jerarquía, parametrización y </a:t>
            </a:r>
            <a:r>
              <a:rPr lang="es-ES" sz="1200" dirty="0" err="1">
                <a:latin typeface="Arial" panose="020B0604020202020204" pitchFamily="34" charset="0"/>
                <a:cs typeface="Arial" panose="020B0604020202020204" pitchFamily="34" charset="0"/>
              </a:rPr>
              <a:t>floorplanning</a:t>
            </a:r>
            <a:r>
              <a:rPr lang="es-ES" sz="1200" dirty="0">
                <a:latin typeface="Arial" panose="020B0604020202020204" pitchFamily="34" charset="0"/>
                <a:cs typeface="Arial" panose="020B0604020202020204" pitchFamily="34" charset="0"/>
              </a:rPr>
              <a:t> dentro de </a:t>
            </a:r>
            <a:r>
              <a:rPr lang="es-ES" sz="1200" dirty="0" err="1">
                <a:latin typeface="Arial" panose="020B0604020202020204" pitchFamily="34" charset="0"/>
                <a:cs typeface="Arial" panose="020B0604020202020204" pitchFamily="34" charset="0"/>
              </a:rPr>
              <a:t>GDSFactory</a:t>
            </a:r>
            <a:r>
              <a:rPr lang="es-ES" sz="12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B75E3DFB-A726-745D-1896-C4200CCAA83A}"/>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0B91B72E-9FFF-69AB-7AD8-1785D3879434}"/>
              </a:ext>
            </a:extLst>
          </p:cNvPr>
          <p:cNvSpPr txBox="1"/>
          <p:nvPr/>
        </p:nvSpPr>
        <p:spPr>
          <a:xfrm>
            <a:off x="8180318" y="3105834"/>
            <a:ext cx="1774973" cy="369332"/>
          </a:xfrm>
          <a:prstGeom prst="rect">
            <a:avLst/>
          </a:prstGeom>
          <a:noFill/>
        </p:spPr>
        <p:txBody>
          <a:bodyPr wrap="none" rtlCol="0">
            <a:spAutoFit/>
          </a:bodyPr>
          <a:lstStyle/>
          <a:p>
            <a:pPr algn="ctr"/>
            <a:r>
              <a:rPr lang="es-ES" dirty="0" err="1"/>
              <a:t>Screenshot</a:t>
            </a:r>
            <a:r>
              <a:rPr lang="es-ES" dirty="0"/>
              <a:t> </a:t>
            </a:r>
            <a:r>
              <a:rPr lang="es-ES" dirty="0" err="1"/>
              <a:t>for</a:t>
            </a:r>
            <a:r>
              <a:rPr lang="es-ES" dirty="0"/>
              <a:t> …</a:t>
            </a:r>
            <a:endParaRPr lang="en-US" dirty="0"/>
          </a:p>
        </p:txBody>
      </p:sp>
      <p:pic>
        <p:nvPicPr>
          <p:cNvPr id="6" name="Imagen 5">
            <a:extLst>
              <a:ext uri="{FF2B5EF4-FFF2-40B4-BE49-F238E27FC236}">
                <a16:creationId xmlns:a16="http://schemas.microsoft.com/office/drawing/2014/main" id="{64B31B89-E268-AA4B-3107-B68474EC268A}"/>
              </a:ext>
            </a:extLst>
          </p:cNvPr>
          <p:cNvPicPr>
            <a:picLocks noChangeAspect="1"/>
          </p:cNvPicPr>
          <p:nvPr/>
        </p:nvPicPr>
        <p:blipFill>
          <a:blip r:embed="rId4"/>
          <a:stretch>
            <a:fillRect/>
          </a:stretch>
        </p:blipFill>
        <p:spPr>
          <a:xfrm>
            <a:off x="6471316" y="1514482"/>
            <a:ext cx="5072229" cy="3829036"/>
          </a:xfrm>
          <a:prstGeom prst="rect">
            <a:avLst/>
          </a:prstGeom>
        </p:spPr>
      </p:pic>
    </p:spTree>
    <p:extLst>
      <p:ext uri="{BB962C8B-B14F-4D97-AF65-F5344CB8AC3E}">
        <p14:creationId xmlns:p14="http://schemas.microsoft.com/office/powerpoint/2010/main" val="8349282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21</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3E1E002B17413842B52C919604DA6A27" ma:contentTypeVersion="14" ma:contentTypeDescription="Crear nuevo documento." ma:contentTypeScope="" ma:versionID="c28be6b225bdaf66a4167d65a283f3d5">
  <xsd:schema xmlns:xsd="http://www.w3.org/2001/XMLSchema" xmlns:xs="http://www.w3.org/2001/XMLSchema" xmlns:p="http://schemas.microsoft.com/office/2006/metadata/properties" xmlns:ns3="687df890-2601-448c-be3c-56e27ed810cd" xmlns:ns4="3b26aeef-a858-43c9-b8af-7466d1d07be8" targetNamespace="http://schemas.microsoft.com/office/2006/metadata/properties" ma:root="true" ma:fieldsID="c043bf8148dcb21a4963f612d8276dca" ns3:_="" ns4:_="">
    <xsd:import namespace="687df890-2601-448c-be3c-56e27ed810cd"/>
    <xsd:import namespace="3b26aeef-a858-43c9-b8af-7466d1d07be8"/>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SearchProperties" minOccurs="0"/>
                <xsd:element ref="ns3:MediaServiceDateTaken" minOccurs="0"/>
                <xsd:element ref="ns3:MediaServiceAutoTags" minOccurs="0"/>
                <xsd:element ref="ns3:MediaLengthInSeconds" minOccurs="0"/>
                <xsd:element ref="ns3:MediaServiceObjectDetectorVersions" minOccurs="0"/>
                <xsd:element ref="ns3:MediaServiceSystemTags"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7df890-2601-448c-be3c-56e27ed810cd"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ystemTags" ma:index="19" nillable="true" ma:displayName="MediaServiceSystemTags" ma:hidden="true" ma:internalName="MediaServiceSystemTags" ma:readOnly="true">
      <xsd:simpleType>
        <xsd:restriction base="dms:Note"/>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b26aeef-a858-43c9-b8af-7466d1d07be8" elementFormDefault="qualified">
    <xsd:import namespace="http://schemas.microsoft.com/office/2006/documentManagement/types"/>
    <xsd:import namespace="http://schemas.microsoft.com/office/infopath/2007/PartnerControls"/>
    <xsd:element name="SharedWithUsers" ma:index="9"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Detalles de uso compartido" ma:internalName="SharedWithDetails" ma:readOnly="true">
      <xsd:simpleType>
        <xsd:restriction base="dms:Note">
          <xsd:maxLength value="255"/>
        </xsd:restriction>
      </xsd:simpleType>
    </xsd:element>
    <xsd:element name="SharingHintHash" ma:index="11" nillable="true" ma:displayName="Hash de la sugerencia para compartir"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687df890-2601-448c-be3c-56e27ed810cd"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FF8F969-D2C4-4D71-8DC3-FA430F827E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87df890-2601-448c-be3c-56e27ed810cd"/>
    <ds:schemaRef ds:uri="3b26aeef-a858-43c9-b8af-7466d1d07b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EC9B64F-E4A7-4D70-8812-8BCDE03636D3}">
  <ds:schemaRefs>
    <ds:schemaRef ds:uri="http://purl.org/dc/dcmitype/"/>
    <ds:schemaRef ds:uri="http://schemas.microsoft.com/office/infopath/2007/PartnerControls"/>
    <ds:schemaRef ds:uri="http://schemas.microsoft.com/office/2006/metadata/properties"/>
    <ds:schemaRef ds:uri="687df890-2601-448c-be3c-56e27ed810cd"/>
    <ds:schemaRef ds:uri="http://schemas.microsoft.com/office/2006/documentManagement/types"/>
    <ds:schemaRef ds:uri="http://purl.org/dc/elements/1.1/"/>
    <ds:schemaRef ds:uri="http://schemas.openxmlformats.org/package/2006/metadata/core-properties"/>
    <ds:schemaRef ds:uri="3b26aeef-a858-43c9-b8af-7466d1d07be8"/>
    <ds:schemaRef ds:uri="http://www.w3.org/XML/1998/namespace"/>
    <ds:schemaRef ds:uri="http://purl.org/dc/terms/"/>
  </ds:schemaRefs>
</ds:datastoreItem>
</file>

<file path=customXml/itemProps3.xml><?xml version="1.0" encoding="utf-8"?>
<ds:datastoreItem xmlns:ds="http://schemas.openxmlformats.org/officeDocument/2006/customXml" ds:itemID="{DE31B50D-52BF-49FC-A5B2-67C76CA278E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2589</TotalTime>
  <Words>3327</Words>
  <Application>Microsoft Office PowerPoint</Application>
  <PresentationFormat>Panorámica</PresentationFormat>
  <Paragraphs>258</Paragraphs>
  <Slides>21</Slides>
  <Notes>18</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21</vt:i4>
      </vt:variant>
    </vt:vector>
  </HeadingPairs>
  <TitlesOfParts>
    <vt:vector size="27" baseType="lpstr">
      <vt:lpstr>Aptos</vt:lpstr>
      <vt:lpstr>Arial</vt:lpstr>
      <vt:lpstr>Calibri</vt:lpstr>
      <vt:lpstr>Lucida Sans</vt:lpstr>
      <vt:lpstr>Wingdings</vt:lpstr>
      <vt:lpstr>Office Theme</vt:lpstr>
      <vt:lpstr>Presentación de PowerPoint</vt:lpstr>
      <vt:lpstr>Instructions General</vt:lpstr>
      <vt:lpstr>Learning outcome #1a – Notebook section 1. Technology “We will work with the demo UPVfab PDK. Let's view the layer distribution of this PDK”</vt:lpstr>
      <vt:lpstr>Learning outcome #1b – Notebook section 1. Technology – DCs “Use your design results from Lab2 and Lab3 to create layout instances of your designed components: DCs, MMIs, MZIs &amp; Ring Resonators”</vt:lpstr>
      <vt:lpstr>Learning outcome #1b – Notebook section 1. Technology – MMIs “Use your design results from Lab2 and Lab3 to create layout instances of your designed components: DCs, MMIs, MZIs &amp; Ring Resonators”</vt:lpstr>
      <vt:lpstr>Learning outcome #1b – Notebook section 1. Technology – MZIs “Use your design results from Lab2 and Lab3 to create layout instances of your designed components: DCs, MMIs, MZIs &amp; Ring Resonators”</vt:lpstr>
      <vt:lpstr>Learning outcome #1b – Notebook section 1. Technology – Ring Resonator “Use your design results from Lab2 and Lab3 to create layout instances of your designed components: DCs, MMIs, MZIs &amp; Ring Resonators”</vt:lpstr>
      <vt:lpstr>Learning outcome #2a – Notebook section 2. Layout Fundamentals “Once that we have a working 'new' component, we shall convert it into a Cell. This will allow us to have a hierarchical design”</vt:lpstr>
      <vt:lpstr>Learning outcome #2a – Notebook section 2. Layout Fundamentals – DCs “Use your design results from Lab2 and Lab3 to create layout instances of your designed components: DCs, MMIs, MZIs &amp; Ring Resonators”  Make cells for all your components</vt:lpstr>
      <vt:lpstr>Learning outcome #2a – Notebook section 2. Layout Fundamentals – MMIs “Use your design results from Lab2 and Lab3 to create layout instances of your designed components: DCs, MMIs, MZIs &amp; Ring Resonators”  Make cells for all your components</vt:lpstr>
      <vt:lpstr>Learning outcome #2a – Notebook section 2. Layout Fundamentals – MZI “Use your design results from Lab2 and Lab3 to create layout instances of your designed components: DCs, MMIs, MZIs &amp; Ring Resonators”  Make cells for all your components</vt:lpstr>
      <vt:lpstr>Learning outcome #2a – Notebook section 2. Layout Fundamentals – Ring Resonator “Use your design results from Lab2 and Lab3 to create layout instances of your designed components: DCs, MMIs, MZIs &amp; Ring Resonators”  Make cells for all your components</vt:lpstr>
      <vt:lpstr>Learning outcome #3 – Notebook section 3. Complete layout</vt:lpstr>
      <vt:lpstr>Learning outcome #4 – Notebook section 4. Exercises – a.1</vt:lpstr>
      <vt:lpstr>Learning outcome #4 – Notebook section 4. Exercises – a.2</vt:lpstr>
      <vt:lpstr>Learning outcome #4 – Notebook section 4. Exercises – a.3</vt:lpstr>
      <vt:lpstr>Learning outcome #4 – Notebook section 4. Exercises – a.4</vt:lpstr>
      <vt:lpstr>Learning outcome #4 – Notebook section 4. Exercises – a.5</vt:lpstr>
      <vt:lpstr>Learning outcome #4 – Notebook section 4. Exercises – b</vt:lpstr>
      <vt:lpstr>Learning outcome #4 – Notebook section 4. Exercises – c</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Blanca Bueno Martinez</cp:lastModifiedBy>
  <cp:revision>26</cp:revision>
  <dcterms:created xsi:type="dcterms:W3CDTF">2025-01-27T02:46:57Z</dcterms:created>
  <dcterms:modified xsi:type="dcterms:W3CDTF">2026-06-12T14:37:50Z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y fmtid="{D5CDD505-2E9C-101B-9397-08002B2CF9AE}" pid="5" name="ContentTypeId">
    <vt:lpwstr>0x0101003E1E002B17413842B52C919604DA6A27</vt:lpwstr>
  </property>
</Properties>
</file>